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47"/>
  </p:notesMasterIdLst>
  <p:handoutMasterIdLst>
    <p:handoutMasterId r:id="rId48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72" r:id="rId11"/>
    <p:sldId id="262" r:id="rId12"/>
    <p:sldId id="263" r:id="rId13"/>
    <p:sldId id="264" r:id="rId14"/>
    <p:sldId id="265" r:id="rId15"/>
    <p:sldId id="266" r:id="rId16"/>
    <p:sldId id="267" r:id="rId17"/>
    <p:sldId id="269" r:id="rId18"/>
    <p:sldId id="268" r:id="rId19"/>
    <p:sldId id="270" r:id="rId20"/>
    <p:sldId id="271" r:id="rId21"/>
    <p:sldId id="274" r:id="rId22"/>
    <p:sldId id="276" r:id="rId23"/>
    <p:sldId id="279" r:id="rId24"/>
    <p:sldId id="300" r:id="rId25"/>
    <p:sldId id="301" r:id="rId26"/>
    <p:sldId id="302" r:id="rId27"/>
    <p:sldId id="273" r:id="rId28"/>
    <p:sldId id="288" r:id="rId29"/>
    <p:sldId id="280" r:id="rId30"/>
    <p:sldId id="281" r:id="rId31"/>
    <p:sldId id="283" r:id="rId32"/>
    <p:sldId id="303" r:id="rId33"/>
    <p:sldId id="286" r:id="rId34"/>
    <p:sldId id="289" r:id="rId35"/>
    <p:sldId id="296" r:id="rId36"/>
    <p:sldId id="323" r:id="rId37"/>
    <p:sldId id="313" r:id="rId38"/>
    <p:sldId id="315" r:id="rId39"/>
    <p:sldId id="317" r:id="rId40"/>
    <p:sldId id="319" r:id="rId41"/>
    <p:sldId id="318" r:id="rId42"/>
    <p:sldId id="320" r:id="rId43"/>
    <p:sldId id="321" r:id="rId44"/>
    <p:sldId id="322" r:id="rId45"/>
    <p:sldId id="324" r:id="rId4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B35BBD-DE6B-8A9E-0641-851731522544}" name="Winiger Patrik" initials="WP" userId="S::patrik.winiger@psi.ch::51ca126b-2156-433c-a2b3-bc178b51897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0F0F0"/>
    <a:srgbClr val="CBCCF5"/>
    <a:srgbClr val="E7E7FA"/>
    <a:srgbClr val="EBE7F9"/>
    <a:srgbClr val="D5CCF2"/>
    <a:srgbClr val="FF66FF"/>
    <a:srgbClr val="F5F5F5"/>
    <a:srgbClr val="FFFFFF"/>
    <a:srgbClr val="F1F3F3"/>
    <a:srgbClr val="E5E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93" autoAdjust="0"/>
  </p:normalViewPr>
  <p:slideViewPr>
    <p:cSldViewPr showGuides="1">
      <p:cViewPr varScale="1">
        <p:scale>
          <a:sx n="111" d="100"/>
          <a:sy n="111" d="100"/>
        </p:scale>
        <p:origin x="480" y="96"/>
      </p:cViewPr>
      <p:guideLst/>
    </p:cSldViewPr>
  </p:slideViewPr>
  <p:outlineViewPr>
    <p:cViewPr>
      <p:scale>
        <a:sx n="33" d="100"/>
        <a:sy n="33" d="100"/>
      </p:scale>
      <p:origin x="0" y="-266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538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04.06.2026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04.06.2026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 PS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B86F663E-A62D-0CAD-5737-A11BE4D02B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6" y="1558"/>
            <a:ext cx="12189228" cy="6854883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5854"/>
            <a:ext cx="8045451" cy="2007994"/>
          </a:xfrm>
        </p:spPr>
        <p:txBody>
          <a:bodyPr anchor="b"/>
          <a:lstStyle>
            <a:lvl1pPr algn="l">
              <a:lnSpc>
                <a:spcPct val="9200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8045451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137" y="358671"/>
            <a:ext cx="1773820" cy="73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764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6" userDrawn="1">
          <p15:clr>
            <a:srgbClr val="A4A3A4"/>
          </p15:clr>
        </p15:guide>
        <p15:guide id="3" orient="horz" pos="3181" userDrawn="1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Dark Blu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B86F663E-A62D-0CAD-5737-A11BE4D02B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4" y="1948"/>
            <a:ext cx="12190615" cy="685566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5464"/>
            <a:ext cx="8045451" cy="2008384"/>
          </a:xfrm>
        </p:spPr>
        <p:txBody>
          <a:bodyPr anchor="b"/>
          <a:lstStyle>
            <a:lvl1pPr algn="l">
              <a:lnSpc>
                <a:spcPct val="9200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8045451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137" y="358671"/>
            <a:ext cx="1773820" cy="73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547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6" userDrawn="1">
          <p15:clr>
            <a:srgbClr val="A4A3A4"/>
          </p15:clr>
        </p15:guide>
        <p15:guide id="3" orient="horz" pos="3181" userDrawn="1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B86F663E-A62D-0CAD-5737-A11BE4D02B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4" y="1948"/>
            <a:ext cx="12190615" cy="685566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5464"/>
            <a:ext cx="8045451" cy="2008384"/>
          </a:xfrm>
        </p:spPr>
        <p:txBody>
          <a:bodyPr anchor="b"/>
          <a:lstStyle>
            <a:lvl1pPr algn="l">
              <a:lnSpc>
                <a:spcPct val="9200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8045451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137" y="358671"/>
            <a:ext cx="1773820" cy="73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77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8BDEC662-E6F5-15D3-BB36-ED6F08201703}"/>
              </a:ext>
            </a:extLst>
          </p:cNvPr>
          <p:cNvSpPr/>
          <p:nvPr userDrawn="1"/>
        </p:nvSpPr>
        <p:spPr>
          <a:xfrm>
            <a:off x="0" y="0"/>
            <a:ext cx="12192000" cy="5049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9388"/>
            <a:ext cx="5292725" cy="2004460"/>
          </a:xfrm>
        </p:spPr>
        <p:txBody>
          <a:bodyPr anchor="b"/>
          <a:lstStyle>
            <a:lvl1pPr algn="l">
              <a:lnSpc>
                <a:spcPct val="92000"/>
              </a:lnSpc>
              <a:defRPr sz="4200"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5292725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35" y="358671"/>
            <a:ext cx="1773825" cy="730070"/>
          </a:xfrm>
          <a:prstGeom prst="rect">
            <a:avLst/>
          </a:prstGeom>
        </p:spPr>
      </p:pic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918345C2-B555-CE5A-CF14-EC753A31E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3948" y="549275"/>
            <a:ext cx="5076827" cy="543600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A4A3A4"/>
          </p15:clr>
        </p15:guide>
        <p15:guide id="2" pos="7106" userDrawn="1">
          <p15:clr>
            <a:srgbClr val="A4A3A4"/>
          </p15:clr>
        </p15:guide>
        <p15:guide id="3" orient="horz" pos="3181" userDrawn="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8BDEC662-E6F5-15D3-BB36-ED6F08201703}"/>
              </a:ext>
            </a:extLst>
          </p:cNvPr>
          <p:cNvSpPr/>
          <p:nvPr userDrawn="1"/>
        </p:nvSpPr>
        <p:spPr>
          <a:xfrm>
            <a:off x="0" y="0"/>
            <a:ext cx="12192000" cy="5049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9388"/>
            <a:ext cx="5292725" cy="2004460"/>
          </a:xfrm>
        </p:spPr>
        <p:txBody>
          <a:bodyPr anchor="b"/>
          <a:lstStyle>
            <a:lvl1pPr algn="l">
              <a:lnSpc>
                <a:spcPct val="92000"/>
              </a:lnSpc>
              <a:defRPr sz="4200"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5292725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35" y="358671"/>
            <a:ext cx="1773825" cy="730070"/>
          </a:xfrm>
          <a:prstGeom prst="rect">
            <a:avLst/>
          </a:prstGeom>
        </p:spPr>
      </p:pic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918345C2-B555-CE5A-CF14-EC753A31E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3948" y="549275"/>
            <a:ext cx="5076827" cy="543600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3079849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A4A3A4"/>
          </p15:clr>
        </p15:guide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8BDEC662-E6F5-15D3-BB36-ED6F08201703}"/>
              </a:ext>
            </a:extLst>
          </p:cNvPr>
          <p:cNvSpPr/>
          <p:nvPr userDrawn="1"/>
        </p:nvSpPr>
        <p:spPr>
          <a:xfrm>
            <a:off x="0" y="0"/>
            <a:ext cx="12192000" cy="5049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9388"/>
            <a:ext cx="5292725" cy="2004460"/>
          </a:xfrm>
        </p:spPr>
        <p:txBody>
          <a:bodyPr anchor="b"/>
          <a:lstStyle>
            <a:lvl1pPr algn="l">
              <a:lnSpc>
                <a:spcPct val="92000"/>
              </a:lnSpc>
              <a:defRPr sz="4200"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5292725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35" y="358671"/>
            <a:ext cx="1773825" cy="730070"/>
          </a:xfrm>
          <a:prstGeom prst="rect">
            <a:avLst/>
          </a:prstGeom>
        </p:spPr>
      </p:pic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918345C2-B555-CE5A-CF14-EC753A31E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3948" y="549275"/>
            <a:ext cx="5076827" cy="543600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2906675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A4A3A4"/>
          </p15:clr>
        </p15:guide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Pin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8BDEC662-E6F5-15D3-BB36-ED6F08201703}"/>
              </a:ext>
            </a:extLst>
          </p:cNvPr>
          <p:cNvSpPr/>
          <p:nvPr userDrawn="1"/>
        </p:nvSpPr>
        <p:spPr>
          <a:xfrm>
            <a:off x="0" y="0"/>
            <a:ext cx="12192000" cy="5049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9388"/>
            <a:ext cx="5292725" cy="2004460"/>
          </a:xfrm>
        </p:spPr>
        <p:txBody>
          <a:bodyPr anchor="b"/>
          <a:lstStyle>
            <a:lvl1pPr algn="l">
              <a:lnSpc>
                <a:spcPct val="92000"/>
              </a:lnSpc>
              <a:defRPr sz="4200"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5292725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 dirty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35" y="358671"/>
            <a:ext cx="1773825" cy="730070"/>
          </a:xfrm>
          <a:prstGeom prst="rect">
            <a:avLst/>
          </a:prstGeom>
        </p:spPr>
      </p:pic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918345C2-B555-CE5A-CF14-EC753A31E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3948" y="549275"/>
            <a:ext cx="5076827" cy="543600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2569151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A4A3A4"/>
          </p15:clr>
        </p15:guide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ing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280026-4D3D-4BB6-870B-30FF1976DEAA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8A5E6FE-0D37-3DFF-F3B7-73A91BE846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292087"/>
            <a:ext cx="8964613" cy="4729302"/>
          </a:xfrm>
        </p:spPr>
        <p:txBody>
          <a:bodyPr/>
          <a:lstStyle>
            <a:lvl1pPr>
              <a:defRPr sz="42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>
                <a:solidFill>
                  <a:schemeClr val="bg1"/>
                </a:solidFill>
              </a:defRPr>
            </a:lvl2pPr>
            <a:lvl3pPr marL="250825" indent="-250825"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 noProof="0" dirty="0"/>
              <a:t>Section Heading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26DA47E-D7F3-07E8-00B3-57D325A007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5134" y="305378"/>
            <a:ext cx="881465" cy="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755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ing 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B1A1C21-6E2E-43CB-A499-6F26BA3D2867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8A5E6FE-0D37-3DFF-F3B7-73A91BE846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292087"/>
            <a:ext cx="8964613" cy="4729302"/>
          </a:xfrm>
        </p:spPr>
        <p:txBody>
          <a:bodyPr/>
          <a:lstStyle>
            <a:lvl1pPr>
              <a:defRPr sz="42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>
                <a:solidFill>
                  <a:schemeClr val="bg1"/>
                </a:solidFill>
              </a:defRPr>
            </a:lvl2pPr>
            <a:lvl3pPr marL="250825" indent="-250825"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 noProof="0" dirty="0"/>
              <a:t>Section Heading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26DA47E-D7F3-07E8-00B3-57D325A007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5134" y="305378"/>
            <a:ext cx="881465" cy="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642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CF64D-4957-4F7C-BD78-A4D83F0A624E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8A5E6FE-0D37-3DFF-F3B7-73A91BE846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292087"/>
            <a:ext cx="8964613" cy="4729302"/>
          </a:xfrm>
        </p:spPr>
        <p:txBody>
          <a:bodyPr/>
          <a:lstStyle>
            <a:lvl1pPr>
              <a:defRPr sz="4200"/>
            </a:lvl1pPr>
            <a:lvl2pPr marL="0" indent="0">
              <a:buFontTx/>
              <a:buNone/>
              <a:defRPr/>
            </a:lvl2pPr>
            <a:lvl3pPr marL="250825" indent="-250825">
              <a:defRPr/>
            </a:lvl3pPr>
          </a:lstStyle>
          <a:p>
            <a:pPr lvl="0"/>
            <a:r>
              <a:rPr lang="en-GB" noProof="0" dirty="0"/>
              <a:t>Section Heading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3975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Yellow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02A9-8AB4-4B62-9FE7-C79B93CE721D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8A5E6FE-0D37-3DFF-F3B7-73A91BE846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292087"/>
            <a:ext cx="8964613" cy="4729302"/>
          </a:xfrm>
        </p:spPr>
        <p:txBody>
          <a:bodyPr/>
          <a:lstStyle>
            <a:lvl1pPr>
              <a:defRPr sz="4200"/>
            </a:lvl1pPr>
            <a:lvl2pPr marL="0" indent="0">
              <a:buFontTx/>
              <a:buNone/>
              <a:defRPr/>
            </a:lvl2pPr>
            <a:lvl3pPr marL="250825" indent="-250825">
              <a:defRPr/>
            </a:lvl3pPr>
          </a:lstStyle>
          <a:p>
            <a:pPr lvl="0"/>
            <a:r>
              <a:rPr lang="en-GB" noProof="0" dirty="0"/>
              <a:t>Section Heading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22531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8964613" cy="4644616"/>
          </a:xfrm>
        </p:spPr>
        <p:txBody>
          <a:bodyPr/>
          <a:lstStyle>
            <a:lvl1pPr defTabSz="984250">
              <a:tabLst>
                <a:tab pos="536575" algn="l"/>
              </a:tabLst>
              <a:defRPr/>
            </a:lvl1pPr>
            <a:lvl2pPr>
              <a:tabLst>
                <a:tab pos="536575" algn="l"/>
              </a:tabLst>
              <a:defRPr/>
            </a:lvl2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A939BEE7-204C-1008-67F3-C8FC6E64EB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tra w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10801349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CDF8E-15EE-4C89-A25F-47FDE8A89584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651099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5291476" cy="4644616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62ED3-1367-4CE8-935E-77100ADA2DEE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3327075-DC64-5DAB-E02B-8A18CBF5A99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05201" y="1376773"/>
            <a:ext cx="5291474" cy="4644616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8788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5292725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C05D5-C686-4B58-8276-61F5057D6EED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948" y="1449389"/>
            <a:ext cx="5292725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3599391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203950" y="1376773"/>
            <a:ext cx="5292724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B2E83-E6E1-49CF-8B1D-15A02C0E0489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1449389"/>
            <a:ext cx="5292724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28135738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024D5AC-18B7-42A0-8763-5161D9B6B2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5" y="1449389"/>
            <a:ext cx="8964613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B216CB-AE9D-4C01-AD48-4B79158751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253974-7A2B-43F7-9AAB-82AE61FB7BDA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E67269-0443-40A6-8D53-CF9C30AE72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2179C-3288-47A5-A587-1B7255A2C3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517538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FCD10-FCBE-4A1D-801A-0EE6CE358A47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1449389"/>
            <a:ext cx="5292724" cy="4571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17580FB4-DD13-1B0D-5A9E-15F0A7CB65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03948" y="1449389"/>
            <a:ext cx="5292725" cy="4571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31529325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09603-F37E-48A7-8BE4-E9FAC5D076F0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9"/>
            <a:ext cx="7129461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F99B93C7-FD88-F860-2772-AA3BFEC82DB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3455988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37062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2F506-EBC5-4FA6-B2E1-2CAEE530F8EF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9"/>
            <a:ext cx="3457575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5A45EC1-6C70-C75B-70A0-557B1FE6DA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3455988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724320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D9123-BDD9-4403-A840-EAF8128283BA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8"/>
            <a:ext cx="3457575" cy="217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FDF6C985-A691-B0CD-8A11-7C955F32458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67213" y="3843389"/>
            <a:ext cx="3457575" cy="217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772A35F-591D-5A80-72BC-28B068C3A5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3455988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9204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F420-CEEB-427A-A025-0EEBD06833F6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8"/>
            <a:ext cx="3457575" cy="217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2177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FDF6C985-A691-B0CD-8A11-7C955F32458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67213" y="3843389"/>
            <a:ext cx="3457575" cy="217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CE065AA4-86F5-4BAD-ED9D-98129FDEFEF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40688" y="3843387"/>
            <a:ext cx="3455986" cy="2178001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089D7F61-76FC-5B15-D914-2BB427BF716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3455988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38349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9F46A-CD84-4EA9-A8B7-968C8FE43CC2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ED849DD-27BF-60D5-0E2A-BC6C9A827A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7129463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CA68BBC-536B-0C49-B239-F2A8A8ACBA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10008472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wid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520A-F980-4931-A46C-82E8E834FBA6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2177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CE065AA4-86F5-4BAD-ED9D-98129FDEFEF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40688" y="3843387"/>
            <a:ext cx="3455986" cy="2178001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ED849DD-27BF-60D5-0E2A-BC6C9A827A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7129463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91598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7AA79-3162-4E10-AA39-D0248AEB6076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1449389"/>
            <a:ext cx="5292724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17580FB4-DD13-1B0D-5A9E-15F0A7CB65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03948" y="1449389"/>
            <a:ext cx="5292725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47A0213-C397-B258-EE3A-69DBB54DD3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4553982"/>
            <a:ext cx="5291476" cy="1467406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7DE0905A-F588-783E-2408-3EEBCC47B7C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05201" y="4553982"/>
            <a:ext cx="5291474" cy="1467406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12682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DE5E1-006F-42D4-ABF6-4421AF14DA08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8"/>
            <a:ext cx="3457575" cy="2987724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11B3F6C3-759F-AE0A-F24C-FF78D18C5F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4545123"/>
            <a:ext cx="3455987" cy="1476265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FDF6C985-A691-B0CD-8A11-7C955F32458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5325" y="1449388"/>
            <a:ext cx="3457575" cy="2987724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7D982B28-131F-0EF1-DBEF-7E5426DA6F8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368801" y="4545123"/>
            <a:ext cx="3455987" cy="1476265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3A5C3130-D9C4-9998-9902-8B054B641165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040688" y="4545123"/>
            <a:ext cx="3455987" cy="1476265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258806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75AC-8901-4370-9802-77EBE44319E7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12784F6E-FB73-D6E4-8C2C-41F75D7C72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95327" y="1449389"/>
            <a:ext cx="2538000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2EA8E577-195E-4B1A-BC32-FE3D591B8C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58673" y="1449389"/>
            <a:ext cx="2538000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0646FBB3-9915-B3D3-1716-7B2E4AB38A5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450050" y="1449389"/>
            <a:ext cx="2538000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3FC8EB0-667A-22B3-F4B0-8DFF6865569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3950" y="1449389"/>
            <a:ext cx="2538000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2B3EE353-935F-47F2-890E-86D599D69C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5325" y="4545013"/>
            <a:ext cx="2533650" cy="1476375"/>
          </a:xfrm>
        </p:spPr>
        <p:txBody>
          <a:bodyPr/>
          <a:lstStyle>
            <a:lvl1pPr>
              <a:spcBef>
                <a:spcPts val="40"/>
              </a:spcBef>
              <a:defRPr sz="1600"/>
            </a:lvl1pPr>
            <a:lvl2pPr marL="179388" indent="-179388">
              <a:spcBef>
                <a:spcPts val="40"/>
              </a:spcBef>
              <a:defRPr sz="1600"/>
            </a:lvl2pPr>
            <a:lvl3pPr marL="360363" indent="-180975">
              <a:spcBef>
                <a:spcPts val="40"/>
              </a:spcBef>
              <a:defRPr sz="16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7650EC49-433E-6552-2740-6B65EFF948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49108" y="4545013"/>
            <a:ext cx="2533650" cy="1476375"/>
          </a:xfrm>
        </p:spPr>
        <p:txBody>
          <a:bodyPr/>
          <a:lstStyle>
            <a:lvl1pPr>
              <a:spcBef>
                <a:spcPts val="40"/>
              </a:spcBef>
              <a:defRPr sz="1600"/>
            </a:lvl1pPr>
            <a:lvl2pPr marL="179388" indent="-179388">
              <a:spcBef>
                <a:spcPts val="40"/>
              </a:spcBef>
              <a:defRPr sz="1600"/>
            </a:lvl2pPr>
            <a:lvl3pPr marL="360363" indent="-180975">
              <a:spcBef>
                <a:spcPts val="40"/>
              </a:spcBef>
              <a:defRPr sz="16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38A397CC-14F5-DD8F-565D-CB576CCEF0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891" y="4545013"/>
            <a:ext cx="2533650" cy="1476375"/>
          </a:xfrm>
        </p:spPr>
        <p:txBody>
          <a:bodyPr/>
          <a:lstStyle>
            <a:lvl1pPr>
              <a:spcBef>
                <a:spcPts val="40"/>
              </a:spcBef>
              <a:defRPr sz="1600"/>
            </a:lvl1pPr>
            <a:lvl2pPr marL="179388" indent="-179388">
              <a:spcBef>
                <a:spcPts val="40"/>
              </a:spcBef>
              <a:defRPr sz="1600"/>
            </a:lvl2pPr>
            <a:lvl3pPr marL="360363" indent="-180975">
              <a:spcBef>
                <a:spcPts val="40"/>
              </a:spcBef>
              <a:defRPr sz="16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52C714DB-CD94-62D4-DBCC-363F77E96B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56675" y="4545013"/>
            <a:ext cx="2533650" cy="1476375"/>
          </a:xfrm>
        </p:spPr>
        <p:txBody>
          <a:bodyPr/>
          <a:lstStyle>
            <a:lvl1pPr>
              <a:spcBef>
                <a:spcPts val="40"/>
              </a:spcBef>
              <a:defRPr sz="1600"/>
            </a:lvl1pPr>
            <a:lvl2pPr marL="179388" indent="-179388">
              <a:spcBef>
                <a:spcPts val="40"/>
              </a:spcBef>
              <a:defRPr sz="1600"/>
            </a:lvl2pPr>
            <a:lvl3pPr marL="360363" indent="-180975">
              <a:spcBef>
                <a:spcPts val="40"/>
              </a:spcBef>
              <a:defRPr sz="16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021725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4BA9F-7D4C-4421-A451-01E2B7381D3E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18983A1D-4D6A-20A1-246F-D90E834D68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8"/>
            <a:ext cx="3457575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1EC548A2-BD24-9227-A6CD-523677F543B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1FDEC21-8808-4E1C-5D07-37DFA51175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5325" y="1449388"/>
            <a:ext cx="3457575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C093E107-B829-CEE4-9295-B1B84BEAE14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67212" y="3852000"/>
            <a:ext cx="3457575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269E9327-75CD-A94E-4F13-6C971DCF19A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40688" y="3852000"/>
            <a:ext cx="3455986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7B4B6D58-21AF-6B45-2504-E31EDE54A33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95325" y="3852000"/>
            <a:ext cx="3457575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7EDE1E8A-EFD6-AFE3-8FC8-A8781D081C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325" y="5689101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90B09162-F170-AF79-446C-2FD12FCF2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67212" y="5689101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B625CAA8-22B4-0491-F50F-A64DB81820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40688" y="5689101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233B6E2E-EE51-3815-5A82-51C2D0BDCD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5325" y="3299877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C029808-0B66-A918-9826-7CF902C7DE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67212" y="3299877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0C032556-82F7-0D1B-C717-506C730F768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40688" y="3299877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472543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BD49-47D3-4F37-877E-B7C0A9080AD4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12784F6E-FB73-D6E4-8C2C-41F75D7C72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95327" y="144939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2EA8E577-195E-4B1A-BC32-FE3D591B8C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58673" y="144939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0646FBB3-9915-B3D3-1716-7B2E4AB38A5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450050" y="144939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3FC8EB0-667A-22B3-F4B0-8DFF6865569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3950" y="144939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7650EC49-433E-6552-2740-6B65EFF948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49108" y="5689100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38A397CC-14F5-DD8F-565D-CB576CCEF0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8300" y="5689100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52C714DB-CD94-62D4-DBCC-363F77E96B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56675" y="5689100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FF900A0F-DD38-976A-BFC1-92B5ACB7395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95325" y="3852000"/>
            <a:ext cx="2538000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8" name="Textplatzhalter 19">
            <a:extLst>
              <a:ext uri="{FF2B5EF4-FFF2-40B4-BE49-F238E27FC236}">
                <a16:creationId xmlns:a16="http://schemas.microsoft.com/office/drawing/2014/main" id="{530B9B83-A2E6-A97A-6B7B-389BCDC2C8C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5325" y="3299877"/>
            <a:ext cx="253682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11" name="Textplatzhalter 19">
            <a:extLst>
              <a:ext uri="{FF2B5EF4-FFF2-40B4-BE49-F238E27FC236}">
                <a16:creationId xmlns:a16="http://schemas.microsoft.com/office/drawing/2014/main" id="{CD6A5AE7-8194-069E-96C6-A9A19A691F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325" y="5689101"/>
            <a:ext cx="2540001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12" name="Textplatzhalter 19">
            <a:extLst>
              <a:ext uri="{FF2B5EF4-FFF2-40B4-BE49-F238E27FC236}">
                <a16:creationId xmlns:a16="http://schemas.microsoft.com/office/drawing/2014/main" id="{E33B1E40-AEE0-028C-74FA-4DA2F2785C8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48050" y="3299877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13" name="Textplatzhalter 19">
            <a:extLst>
              <a:ext uri="{FF2B5EF4-FFF2-40B4-BE49-F238E27FC236}">
                <a16:creationId xmlns:a16="http://schemas.microsoft.com/office/drawing/2014/main" id="{6CF8C6E7-2EBA-0F42-5F97-0B15A298F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08300" y="3299877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16" name="Textplatzhalter 19">
            <a:extLst>
              <a:ext uri="{FF2B5EF4-FFF2-40B4-BE49-F238E27FC236}">
                <a16:creationId xmlns:a16="http://schemas.microsoft.com/office/drawing/2014/main" id="{A8581B57-63E2-3060-2AF6-9711ABA1492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55617" y="3299877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15C431B-993D-61F7-28CB-6E9C6E916B2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957560" y="385200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5F9CC3CC-2D09-5169-EE63-2F307DD025AE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448937" y="385200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05CD9CF5-8030-A2FA-B5F1-BDE8A3AB64F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202837" y="385200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23318096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lve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A1D8F-7254-47BE-92B2-DBF08CE55EEF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18983A1D-4D6A-20A1-246F-D90E834D68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9"/>
            <a:ext cx="1620837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1EC548A2-BD24-9227-A6CD-523677F543B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74248" y="1449389"/>
            <a:ext cx="1622425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1FDEC21-8808-4E1C-5D07-37DFA51175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5326" y="1449389"/>
            <a:ext cx="1620838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C093E107-B829-CEE4-9295-B1B84BEAE14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67212" y="3851999"/>
            <a:ext cx="1620837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269E9327-75CD-A94E-4F13-6C971DCF19A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40688" y="3852000"/>
            <a:ext cx="1619250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7B4B6D58-21AF-6B45-2504-E31EDE54A33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95326" y="3851999"/>
            <a:ext cx="1620838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7EDE1E8A-EFD6-AFE3-8FC8-A8781D081C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326" y="5589240"/>
            <a:ext cx="1620838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90B09162-F170-AF79-446C-2FD12FCF2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67212" y="5589240"/>
            <a:ext cx="1620837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B625CAA8-22B4-0491-F50F-A64DB81820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40688" y="5589240"/>
            <a:ext cx="1619995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233B6E2E-EE51-3815-5A82-51C2D0BDCD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5326" y="3204724"/>
            <a:ext cx="1620838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C029808-0B66-A918-9826-7CF902C7DE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67212" y="3204724"/>
            <a:ext cx="1620837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0C032556-82F7-0D1B-C717-506C730F768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75092" y="3204724"/>
            <a:ext cx="1623171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1C50D6C7-B8FE-16E3-A56F-215DF2E7FD0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532062" y="1449389"/>
            <a:ext cx="1620838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7" name="Textplatzhalter 19">
            <a:extLst>
              <a:ext uri="{FF2B5EF4-FFF2-40B4-BE49-F238E27FC236}">
                <a16:creationId xmlns:a16="http://schemas.microsoft.com/office/drawing/2014/main" id="{F254DC50-8CC2-CE50-0FB2-B9D82F2F6F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32062" y="3204724"/>
            <a:ext cx="1620838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4356FD2E-817C-6008-A624-C0ED226EC77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202363" y="1449389"/>
            <a:ext cx="1622425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1" name="Textplatzhalter 19">
            <a:extLst>
              <a:ext uri="{FF2B5EF4-FFF2-40B4-BE49-F238E27FC236}">
                <a16:creationId xmlns:a16="http://schemas.microsoft.com/office/drawing/2014/main" id="{B844240D-6410-EAE1-FBFE-02793B43B5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2362" y="3204724"/>
            <a:ext cx="1622425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4729A6D7-E881-5FD5-1C1E-FD7A660187BE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40688" y="1449389"/>
            <a:ext cx="1619250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13" name="Textplatzhalter 19">
            <a:extLst>
              <a:ext uri="{FF2B5EF4-FFF2-40B4-BE49-F238E27FC236}">
                <a16:creationId xmlns:a16="http://schemas.microsoft.com/office/drawing/2014/main" id="{86799E5C-45B4-E8EF-0A33-26FADBDA89C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40688" y="3204724"/>
            <a:ext cx="1619995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20480596-0358-6167-AD5A-A43149936E4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532062" y="3851999"/>
            <a:ext cx="1620838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99EB327B-0262-FA88-4B41-185878FCDBA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32062" y="5589240"/>
            <a:ext cx="1620838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7383DAC6-063E-B185-1200-CBEAF6F1917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203950" y="3851999"/>
            <a:ext cx="1620837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814D2A83-C214-5D3D-33E5-499378F10F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3950" y="5589240"/>
            <a:ext cx="1620837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0C7EA178-EA7E-CEB6-BCCA-A6C695A390C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873502" y="3852000"/>
            <a:ext cx="1623171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67FC58FF-0434-E3CF-0015-FA751A6F2C4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874346" y="5589240"/>
            <a:ext cx="1623917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 dirty="0"/>
              <a:t>Add Text</a:t>
            </a:r>
          </a:p>
          <a:p>
            <a:pPr lvl="1"/>
            <a:r>
              <a:rPr lang="en-GB" noProof="0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22121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iz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39548-6E31-475E-9523-67EEEB11B520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36847926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full siz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95CE6-B1C1-4A01-9B59-7F69D83EEB48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17580FB4-DD13-1B0D-5A9E-15F0A7CB65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03948" y="0"/>
            <a:ext cx="5988052" cy="6857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598805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 dirty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41314079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Add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1A95A-0331-42E2-B52D-EB8D369B2C5F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67066-FCF1-45A3-9A8A-400034F861F3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95325" y="278296"/>
            <a:ext cx="8964613" cy="8104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Add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95325" y="1376364"/>
            <a:ext cx="10801275" cy="46450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Add Content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875837" y="6404573"/>
            <a:ext cx="1620837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F261762-898A-474B-BAD7-AB4911CF5591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14487" y="6404573"/>
            <a:ext cx="8045451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5325" y="6404573"/>
            <a:ext cx="703263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EC2031EC-4715-FBAB-E65E-0A3E5D91D8E4}"/>
              </a:ext>
            </a:extLst>
          </p:cNvPr>
          <p:cNvPicPr>
            <a:picLocks noChangeAspect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133" y="305378"/>
            <a:ext cx="881467" cy="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1" r:id="rId3"/>
    <p:sldLayoutId id="2147483658" r:id="rId4"/>
    <p:sldLayoutId id="2147483738" r:id="rId5"/>
    <p:sldLayoutId id="2147483739" r:id="rId6"/>
    <p:sldLayoutId id="2147483740" r:id="rId7"/>
    <p:sldLayoutId id="2147483694" r:id="rId8"/>
    <p:sldLayoutId id="2147483737" r:id="rId9"/>
    <p:sldLayoutId id="2147483692" r:id="rId10"/>
    <p:sldLayoutId id="2147483693" r:id="rId11"/>
    <p:sldLayoutId id="2147483659" r:id="rId12"/>
    <p:sldLayoutId id="2147483666" r:id="rId13"/>
    <p:sldLayoutId id="2147483667" r:id="rId14"/>
    <p:sldLayoutId id="2147483668" r:id="rId15"/>
    <p:sldLayoutId id="2147483669" r:id="rId16"/>
    <p:sldLayoutId id="2147483665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95" r:id="rId25"/>
    <p:sldLayoutId id="2147483677" r:id="rId26"/>
    <p:sldLayoutId id="2147483679" r:id="rId27"/>
    <p:sldLayoutId id="2147483678" r:id="rId28"/>
    <p:sldLayoutId id="2147483680" r:id="rId29"/>
    <p:sldLayoutId id="2147483681" r:id="rId30"/>
    <p:sldLayoutId id="2147483683" r:id="rId31"/>
    <p:sldLayoutId id="2147483682" r:id="rId32"/>
    <p:sldLayoutId id="2147483663" r:id="rId33"/>
    <p:sldLayoutId id="2147483664" r:id="rId34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+mj-lt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14400" rtl="0" eaLnBrk="1" latinLnBrk="0" hangingPunct="1">
        <a:lnSpc>
          <a:spcPct val="100000"/>
        </a:lnSpc>
        <a:spcBef>
          <a:spcPts val="600"/>
        </a:spcBef>
        <a:buFont typeface="Aptos" panose="020B00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600"/>
        </a:spcBef>
        <a:buFont typeface="Aptos" panose="020B00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914400" rtl="0" eaLnBrk="1" latinLnBrk="0" hangingPunct="1">
        <a:lnSpc>
          <a:spcPct val="100000"/>
        </a:lnSpc>
        <a:spcBef>
          <a:spcPts val="400"/>
        </a:spcBef>
        <a:buFont typeface="Aptos" panose="020B00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08000" indent="-252000" algn="l" defTabSz="914400" rtl="0" eaLnBrk="1" latinLnBrk="0" hangingPunct="1">
        <a:lnSpc>
          <a:spcPct val="100000"/>
        </a:lnSpc>
        <a:spcBef>
          <a:spcPts val="400"/>
        </a:spcBef>
        <a:buFont typeface="Aptos" panose="020B00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orient="horz" pos="4110" userDrawn="1">
          <p15:clr>
            <a:srgbClr val="A4A3A4"/>
          </p15:clr>
        </p15:guide>
        <p15:guide id="4" orient="horz" pos="913" userDrawn="1">
          <p15:clr>
            <a:srgbClr val="A4A3A4"/>
          </p15:clr>
        </p15:guide>
        <p15:guide id="5" pos="3772" userDrawn="1">
          <p15:clr>
            <a:srgbClr val="A4A3A4"/>
          </p15:clr>
        </p15:guide>
        <p15:guide id="6" pos="3908" userDrawn="1">
          <p15:clr>
            <a:srgbClr val="A4A3A4"/>
          </p15:clr>
        </p15:guide>
        <p15:guide id="7" pos="2751" userDrawn="1">
          <p15:clr>
            <a:srgbClr val="A4A3A4"/>
          </p15:clr>
        </p15:guide>
        <p15:guide id="8" pos="2615" userDrawn="1">
          <p15:clr>
            <a:srgbClr val="A4A3A4"/>
          </p15:clr>
        </p15:guide>
        <p15:guide id="9" pos="1595" userDrawn="1">
          <p15:clr>
            <a:srgbClr val="A4A3A4"/>
          </p15:clr>
        </p15:guide>
        <p15:guide id="10" pos="1459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065" userDrawn="1">
          <p15:clr>
            <a:srgbClr val="A4A3A4"/>
          </p15:clr>
        </p15:guide>
        <p15:guide id="13" pos="6085" userDrawn="1">
          <p15:clr>
            <a:srgbClr val="A4A3A4"/>
          </p15:clr>
        </p15:guide>
        <p15:guide id="14" pos="6221" userDrawn="1">
          <p15:clr>
            <a:srgbClr val="A4A3A4"/>
          </p15:clr>
        </p15:guide>
        <p15:guide id="15" pos="2172" userDrawn="1">
          <p15:clr>
            <a:srgbClr val="A4A3A4"/>
          </p15:clr>
        </p15:guide>
        <p15:guide id="16" pos="2036" userDrawn="1">
          <p15:clr>
            <a:srgbClr val="A4A3A4"/>
          </p15:clr>
        </p15:guide>
        <p15:guide id="17" pos="3194" userDrawn="1">
          <p15:clr>
            <a:srgbClr val="A4A3A4"/>
          </p15:clr>
        </p15:guide>
        <p15:guide id="18" pos="3330" userDrawn="1">
          <p15:clr>
            <a:srgbClr val="A4A3A4"/>
          </p15:clr>
        </p15:guide>
        <p15:guide id="19" pos="881" userDrawn="1">
          <p15:clr>
            <a:srgbClr val="A4A3A4"/>
          </p15:clr>
        </p15:guide>
        <p15:guide id="20" pos="1017" userDrawn="1">
          <p15:clr>
            <a:srgbClr val="A4A3A4"/>
          </p15:clr>
        </p15:guide>
        <p15:guide id="21" pos="4351" userDrawn="1">
          <p15:clr>
            <a:srgbClr val="A4A3A4"/>
          </p15:clr>
        </p15:guide>
        <p15:guide id="22" pos="4487" userDrawn="1">
          <p15:clr>
            <a:srgbClr val="A4A3A4"/>
          </p15:clr>
        </p15:guide>
        <p15:guide id="23" pos="5508" userDrawn="1">
          <p15:clr>
            <a:srgbClr val="A4A3A4"/>
          </p15:clr>
        </p15:guide>
        <p15:guide id="24" pos="5642" userDrawn="1">
          <p15:clr>
            <a:srgbClr val="A4A3A4"/>
          </p15:clr>
        </p15:guide>
        <p15:guide id="25" pos="6663" userDrawn="1">
          <p15:clr>
            <a:srgbClr val="A4A3A4"/>
          </p15:clr>
        </p15:guide>
        <p15:guide id="26" pos="6799" userDrawn="1">
          <p15:clr>
            <a:srgbClr val="A4A3A4"/>
          </p15:clr>
        </p15:guide>
        <p15:guide id="27" orient="horz" pos="229" userDrawn="1">
          <p15:clr>
            <a:srgbClr val="A4A3A4"/>
          </p15:clr>
        </p15:guide>
        <p15:guide id="28" orient="horz" pos="867" userDrawn="1">
          <p15:clr>
            <a:srgbClr val="A4A3A4"/>
          </p15:clr>
        </p15:guide>
        <p15:guide id="29" orient="horz" pos="379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7A097-897F-D70E-FEEA-65753A2247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EESI data analysis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B9AFA-72EF-AD9A-87B4-8060C650A3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Tofware</a:t>
            </a:r>
            <a:r>
              <a:rPr lang="en-US" dirty="0"/>
              <a:t> output to time series (e.g. for PMF)</a:t>
            </a:r>
          </a:p>
          <a:p>
            <a:r>
              <a:rPr lang="en-US" dirty="0"/>
              <a:t>General Overview of </a:t>
            </a:r>
            <a:r>
              <a:rPr lang="en-US" dirty="0" err="1"/>
              <a:t>Jungfraujoch</a:t>
            </a:r>
            <a:r>
              <a:rPr lang="en-US" dirty="0"/>
              <a:t> EESI dataset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2ED70-8916-8B50-E4E0-233188B447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Julian Weng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57BE40-CFD2-CCE6-491B-259F85EE40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2025/03</a:t>
            </a:r>
          </a:p>
        </p:txBody>
      </p:sp>
    </p:spTree>
    <p:extLst>
      <p:ext uri="{BB962C8B-B14F-4D97-AF65-F5344CB8AC3E}">
        <p14:creationId xmlns:p14="http://schemas.microsoft.com/office/powerpoint/2010/main" val="3334030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845F01-381A-4DC0-BFF5-A980BE25F2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2622498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852525A-1B81-9387-A282-78FEB950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AB8FC-E9F2-238D-AE0E-545E8898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80026-4D3D-4BB6-870B-30FF1976DEAA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19A82-7D97-9B5F-38DF-5647E63A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F90BC-8AAB-BA43-76E8-CAD3878A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3</a:t>
            </a:fld>
            <a:endParaRPr lang="en-GB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0177D6-1D3E-DCB4-A714-9BE32B4D0B4E}"/>
              </a:ext>
            </a:extLst>
          </p:cNvPr>
          <p:cNvSpPr txBox="1"/>
          <p:nvPr/>
        </p:nvSpPr>
        <p:spPr>
          <a:xfrm>
            <a:off x="914400" y="1371600"/>
            <a:ext cx="274273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 u="sng" dirty="0" err="1"/>
              <a:t>Amus</a:t>
            </a:r>
            <a:r>
              <a:rPr lang="en-US" sz="2000" b="1" u="sng" dirty="0"/>
              <a:t>: Ion names &amp; m/z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A4B453-B17D-B0F8-C1B9-48E53F032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871" y="1903363"/>
            <a:ext cx="1623795" cy="30959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E6CC08-567F-954E-2576-8E3CF2153FBC}"/>
              </a:ext>
            </a:extLst>
          </p:cNvPr>
          <p:cNvSpPr txBox="1"/>
          <p:nvPr/>
        </p:nvSpPr>
        <p:spPr>
          <a:xfrm>
            <a:off x="5177631" y="2057400"/>
            <a:ext cx="277601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 u="sng" dirty="0"/>
              <a:t>Time series of EESI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C8F862-FA17-4482-0798-AD7FCA6EBF9E}"/>
              </a:ext>
            </a:extLst>
          </p:cNvPr>
          <p:cNvSpPr txBox="1"/>
          <p:nvPr/>
        </p:nvSpPr>
        <p:spPr>
          <a:xfrm>
            <a:off x="8058576" y="1447800"/>
            <a:ext cx="363452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 u="sng" dirty="0"/>
              <a:t>Run number series of EESI data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DC99F1-CC9E-009D-CAAB-F182DD9C9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270" y="2590800"/>
            <a:ext cx="1442444" cy="32596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7C10BC7-7761-586F-BBFB-573064512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8423" y="2055395"/>
            <a:ext cx="994825" cy="3259642"/>
          </a:xfrm>
          <a:prstGeom prst="rect">
            <a:avLst/>
          </a:prstGeom>
        </p:spPr>
      </p:pic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8C01C5C3-B9E6-5F25-ACAF-C823E2850EEB}"/>
              </a:ext>
            </a:extLst>
          </p:cNvPr>
          <p:cNvCxnSpPr/>
          <p:nvPr/>
        </p:nvCxnSpPr>
        <p:spPr>
          <a:xfrm rot="10800000" flipV="1">
            <a:off x="7698070" y="3807024"/>
            <a:ext cx="1066800" cy="685800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D816DD-0534-89BF-BA6F-79FFF3119D3C}"/>
              </a:ext>
            </a:extLst>
          </p:cNvPr>
          <p:cNvSpPr txBox="1"/>
          <p:nvPr/>
        </p:nvSpPr>
        <p:spPr>
          <a:xfrm>
            <a:off x="7742764" y="4572000"/>
            <a:ext cx="117179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200" b="1" dirty="0"/>
              <a:t>Same dimension</a:t>
            </a:r>
          </a:p>
        </p:txBody>
      </p:sp>
    </p:spTree>
    <p:extLst>
      <p:ext uri="{BB962C8B-B14F-4D97-AF65-F5344CB8AC3E}">
        <p14:creationId xmlns:p14="http://schemas.microsoft.com/office/powerpoint/2010/main" val="2751568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852525A-1B81-9387-A282-78FEB950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AB8FC-E9F2-238D-AE0E-545E8898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80026-4D3D-4BB6-870B-30FF1976DEAA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19A82-7D97-9B5F-38DF-5647E63A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F90BC-8AAB-BA43-76E8-CAD3878A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4</a:t>
            </a:fld>
            <a:endParaRPr lang="en-GB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2C97B6-849A-2231-DD75-0A360E306810}"/>
              </a:ext>
            </a:extLst>
          </p:cNvPr>
          <p:cNvSpPr txBox="1"/>
          <p:nvPr/>
        </p:nvSpPr>
        <p:spPr>
          <a:xfrm>
            <a:off x="1143000" y="1371600"/>
            <a:ext cx="190077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 u="sng" dirty="0"/>
              <a:t>EESI data matrix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11582C-0E41-3B25-EC29-904625BE9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2013694"/>
            <a:ext cx="7396320" cy="350550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F8F980-7A47-3BD1-6391-0EF4EBF3C88D}"/>
              </a:ext>
            </a:extLst>
          </p:cNvPr>
          <p:cNvCxnSpPr>
            <a:cxnSpLocks/>
          </p:cNvCxnSpPr>
          <p:nvPr/>
        </p:nvCxnSpPr>
        <p:spPr>
          <a:xfrm>
            <a:off x="6934200" y="1600200"/>
            <a:ext cx="182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429E9D9-8BA9-0919-4E19-5E890A7448DB}"/>
              </a:ext>
            </a:extLst>
          </p:cNvPr>
          <p:cNvSpPr txBox="1"/>
          <p:nvPr/>
        </p:nvSpPr>
        <p:spPr>
          <a:xfrm>
            <a:off x="7596127" y="1184909"/>
            <a:ext cx="40235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b="1" dirty="0"/>
              <a:t>Ions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D3B7E2B-3AEE-A822-7AC6-288BD8375018}"/>
              </a:ext>
            </a:extLst>
          </p:cNvPr>
          <p:cNvCxnSpPr>
            <a:cxnSpLocks/>
          </p:cNvCxnSpPr>
          <p:nvPr/>
        </p:nvCxnSpPr>
        <p:spPr>
          <a:xfrm rot="5400000">
            <a:off x="2209800" y="3581400"/>
            <a:ext cx="182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5FEA0C7-2284-D3C3-8355-0D834AE964CA}"/>
              </a:ext>
            </a:extLst>
          </p:cNvPr>
          <p:cNvSpPr txBox="1"/>
          <p:nvPr/>
        </p:nvSpPr>
        <p:spPr>
          <a:xfrm>
            <a:off x="1032192" y="3273623"/>
            <a:ext cx="136447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b="1" dirty="0"/>
              <a:t>Run numbers /</a:t>
            </a:r>
            <a:br>
              <a:rPr lang="en-US" sz="1600" b="1" dirty="0"/>
            </a:br>
            <a:r>
              <a:rPr lang="en-US" sz="1600" b="1" dirty="0"/>
              <a:t>time stamps</a:t>
            </a:r>
          </a:p>
        </p:txBody>
      </p:sp>
    </p:spTree>
    <p:extLst>
      <p:ext uri="{BB962C8B-B14F-4D97-AF65-F5344CB8AC3E}">
        <p14:creationId xmlns:p14="http://schemas.microsoft.com/office/powerpoint/2010/main" val="3228270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852525A-1B81-9387-A282-78FEB950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AB8FC-E9F2-238D-AE0E-545E8898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80026-4D3D-4BB6-870B-30FF1976DEAA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19A82-7D97-9B5F-38DF-5647E63A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F90BC-8AAB-BA43-76E8-CAD3878A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5</a:t>
            </a:fld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014410-2806-9B53-DF19-45CE8F131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66" y="2393141"/>
            <a:ext cx="7939834" cy="3174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E88DD5-42C7-BD09-B0FE-2603DA22C7C3}"/>
              </a:ext>
            </a:extLst>
          </p:cNvPr>
          <p:cNvSpPr txBox="1"/>
          <p:nvPr/>
        </p:nvSpPr>
        <p:spPr>
          <a:xfrm>
            <a:off x="838200" y="1500162"/>
            <a:ext cx="277031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 u="sng" dirty="0"/>
              <a:t>Autosampler </a:t>
            </a:r>
            <a:r>
              <a:rPr lang="en-US" sz="2000" b="1" u="sng" dirty="0" err="1"/>
              <a:t>dataframe</a:t>
            </a:r>
            <a:endParaRPr lang="en-US" sz="2000" b="1" u="sn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E1636B-2D9E-25F0-F7AA-921F84B6565D}"/>
              </a:ext>
            </a:extLst>
          </p:cNvPr>
          <p:cNvSpPr txBox="1"/>
          <p:nvPr/>
        </p:nvSpPr>
        <p:spPr>
          <a:xfrm>
            <a:off x="1752600" y="1882370"/>
            <a:ext cx="60950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(sample IDs and types, sample &amp; </a:t>
            </a:r>
            <a:r>
              <a:rPr lang="en-US" sz="1400" b="1" dirty="0" err="1"/>
              <a:t>waterblank</a:t>
            </a:r>
            <a:r>
              <a:rPr lang="en-US" sz="1400" b="1" dirty="0"/>
              <a:t> starting/ending times)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69694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852525A-1B81-9387-A282-78FEB950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AB8FC-E9F2-238D-AE0E-545E8898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80026-4D3D-4BB6-870B-30FF1976DEAA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19A82-7D97-9B5F-38DF-5647E63A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F90BC-8AAB-BA43-76E8-CAD3878A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6</a:t>
            </a:fld>
            <a:endParaRPr lang="en-GB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E88DD5-42C7-BD09-B0FE-2603DA22C7C3}"/>
              </a:ext>
            </a:extLst>
          </p:cNvPr>
          <p:cNvSpPr txBox="1"/>
          <p:nvPr/>
        </p:nvSpPr>
        <p:spPr>
          <a:xfrm>
            <a:off x="838200" y="1500162"/>
            <a:ext cx="196932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 u="sng" dirty="0"/>
              <a:t>Sample info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E1636B-2D9E-25F0-F7AA-921F84B6565D}"/>
              </a:ext>
            </a:extLst>
          </p:cNvPr>
          <p:cNvSpPr txBox="1"/>
          <p:nvPr/>
        </p:nvSpPr>
        <p:spPr>
          <a:xfrm>
            <a:off x="1752600" y="1882370"/>
            <a:ext cx="60950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(Sampling dates, effective extraction volumes)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F1769A-49F4-E530-CECC-3A309CC08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546" y="2411946"/>
            <a:ext cx="6730054" cy="320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151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6A921-D4FA-9953-AA82-ECFB74848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CDF8E-15EE-4C89-A25F-47FDE8A89584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48B6A-79B4-FAC6-36D7-1B85AB49E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F7507-46B7-A103-5996-BEE9374BA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7</a:t>
            </a:fld>
            <a:endParaRPr lang="en-GB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96CA88-E28B-15C5-95C9-BA7A50D445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Pre-processing and filtering</a:t>
            </a:r>
          </a:p>
        </p:txBody>
      </p:sp>
    </p:spTree>
    <p:extLst>
      <p:ext uri="{BB962C8B-B14F-4D97-AF65-F5344CB8AC3E}">
        <p14:creationId xmlns:p14="http://schemas.microsoft.com/office/powerpoint/2010/main" val="2487590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845F01-381A-4DC0-BFF5-A980BE25F2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Removing larges spikes/outliers</a:t>
            </a:r>
          </a:p>
          <a:p>
            <a:endParaRPr lang="en-US" dirty="0"/>
          </a:p>
          <a:p>
            <a:r>
              <a:rPr lang="en-US" dirty="0"/>
              <a:t>Based on primary ion signal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501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852525A-1B81-9387-A282-78FEB950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spikes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AB8FC-E9F2-238D-AE0E-545E8898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80026-4D3D-4BB6-870B-30FF1976DEAA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19A82-7D97-9B5F-38DF-5647E63A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F90BC-8AAB-BA43-76E8-CAD3878A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9</a:t>
            </a:fld>
            <a:endParaRPr lang="en-GB" noProof="0" dirty="0"/>
          </a:p>
        </p:txBody>
      </p:sp>
      <p:pic>
        <p:nvPicPr>
          <p:cNvPr id="8" name="Picture 7" descr="A graph showing a graph&#10;&#10;AI-generated content may be incorrect.">
            <a:extLst>
              <a:ext uri="{FF2B5EF4-FFF2-40B4-BE49-F238E27FC236}">
                <a16:creationId xmlns:a16="http://schemas.microsoft.com/office/drawing/2014/main" id="{226295D1-B12D-DD1D-3BBF-46268C56F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1" y="838200"/>
            <a:ext cx="7075240" cy="2743200"/>
          </a:xfrm>
          <a:prstGeom prst="rect">
            <a:avLst/>
          </a:prstGeom>
        </p:spPr>
      </p:pic>
      <p:pic>
        <p:nvPicPr>
          <p:cNvPr id="11" name="Picture 10" descr="A graph showing a graph&#10;&#10;AI-generated content may be incorrect.">
            <a:extLst>
              <a:ext uri="{FF2B5EF4-FFF2-40B4-BE49-F238E27FC236}">
                <a16:creationId xmlns:a16="http://schemas.microsoft.com/office/drawing/2014/main" id="{08E33C10-BD48-B287-F7E1-E760C7769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3621386"/>
            <a:ext cx="7075241" cy="27432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FAE6FAA-FB0F-511A-C62E-3096ECCAC023}"/>
              </a:ext>
            </a:extLst>
          </p:cNvPr>
          <p:cNvCxnSpPr>
            <a:cxnSpLocks/>
          </p:cNvCxnSpPr>
          <p:nvPr/>
        </p:nvCxnSpPr>
        <p:spPr>
          <a:xfrm flipH="1" flipV="1">
            <a:off x="5426837" y="2979717"/>
            <a:ext cx="211963" cy="538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9DAD6AA-2B95-3674-BA6A-B09C69E35E9B}"/>
              </a:ext>
            </a:extLst>
          </p:cNvPr>
          <p:cNvCxnSpPr>
            <a:cxnSpLocks/>
          </p:cNvCxnSpPr>
          <p:nvPr/>
        </p:nvCxnSpPr>
        <p:spPr>
          <a:xfrm flipV="1">
            <a:off x="6019800" y="3048000"/>
            <a:ext cx="2057400" cy="508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2E4AF31-841D-7F49-DC04-F16781678DE4}"/>
              </a:ext>
            </a:extLst>
          </p:cNvPr>
          <p:cNvSpPr txBox="1"/>
          <p:nvPr/>
        </p:nvSpPr>
        <p:spPr>
          <a:xfrm>
            <a:off x="695325" y="1517508"/>
            <a:ext cx="2962275" cy="40010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/>
              <a:t>Define cutoffs (low &amp; high) based on visual inspection of primary ion signal; make sure no real data points out of defined cutoffs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Simply filter values out of cutoff range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Could be improved by more local filtering…but later steps also include filters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4801C8-9EDA-FE80-B602-B08320563D5B}"/>
              </a:ext>
            </a:extLst>
          </p:cNvPr>
          <p:cNvSpPr txBox="1"/>
          <p:nvPr/>
        </p:nvSpPr>
        <p:spPr>
          <a:xfrm>
            <a:off x="5513026" y="3556156"/>
            <a:ext cx="78386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solidFill>
                  <a:srgbClr val="C00000"/>
                </a:solidFill>
              </a:rPr>
              <a:t>filtered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87E14DE-2AF9-52BA-9DC1-0A57FB2E909F}"/>
              </a:ext>
            </a:extLst>
          </p:cNvPr>
          <p:cNvSpPr/>
          <p:nvPr/>
        </p:nvSpPr>
        <p:spPr>
          <a:xfrm>
            <a:off x="4419600" y="823766"/>
            <a:ext cx="914400" cy="21244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Before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8411786-C5D4-D0D4-B2AD-39A63D699924}"/>
              </a:ext>
            </a:extLst>
          </p:cNvPr>
          <p:cNvSpPr/>
          <p:nvPr/>
        </p:nvSpPr>
        <p:spPr>
          <a:xfrm>
            <a:off x="4419600" y="3601772"/>
            <a:ext cx="914400" cy="21244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After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0019CF-16F5-5BAF-DAD0-172BB6061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6436676"/>
            <a:ext cx="6468016" cy="28605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78A7FCA-A37D-4970-E87E-E4AF41A82E6B}"/>
              </a:ext>
            </a:extLst>
          </p:cNvPr>
          <p:cNvCxnSpPr>
            <a:cxnSpLocks/>
          </p:cNvCxnSpPr>
          <p:nvPr/>
        </p:nvCxnSpPr>
        <p:spPr>
          <a:xfrm>
            <a:off x="2984500" y="6248400"/>
            <a:ext cx="9779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7E5BF08-0051-48A4-7581-61A9EB897E4E}"/>
              </a:ext>
            </a:extLst>
          </p:cNvPr>
          <p:cNvSpPr txBox="1"/>
          <p:nvPr/>
        </p:nvSpPr>
        <p:spPr>
          <a:xfrm>
            <a:off x="1927177" y="5898973"/>
            <a:ext cx="174823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200" b="1" dirty="0">
                <a:solidFill>
                  <a:srgbClr val="C00000"/>
                </a:solidFill>
              </a:rPr>
              <a:t>Filtering is not very harsh</a:t>
            </a:r>
            <a:br>
              <a:rPr lang="en-US" sz="1200" b="1" dirty="0">
                <a:solidFill>
                  <a:srgbClr val="C00000"/>
                </a:solidFill>
              </a:rPr>
            </a:br>
            <a:r>
              <a:rPr lang="en-US" sz="1200" b="1" dirty="0">
                <a:solidFill>
                  <a:srgbClr val="C00000"/>
                </a:solidFill>
              </a:rPr>
              <a:t>(only big spikes removed)</a:t>
            </a:r>
          </a:p>
        </p:txBody>
      </p:sp>
    </p:spTree>
    <p:extLst>
      <p:ext uri="{BB962C8B-B14F-4D97-AF65-F5344CB8AC3E}">
        <p14:creationId xmlns:p14="http://schemas.microsoft.com/office/powerpoint/2010/main" val="1750017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845F01-381A-4DC0-BFF5-A980BE25F2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Assignment of run numbers to samples and </a:t>
            </a:r>
            <a:r>
              <a:rPr lang="en-US" dirty="0" err="1"/>
              <a:t>waterblanks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940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852525A-1B81-9387-A282-78FEB950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 RN to each sample and its corresponding </a:t>
            </a:r>
            <a:r>
              <a:rPr lang="en-US" dirty="0" err="1"/>
              <a:t>waterblank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AB8FC-E9F2-238D-AE0E-545E8898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80026-4D3D-4BB6-870B-30FF1976DEAA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19A82-7D97-9B5F-38DF-5647E63A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F90BC-8AAB-BA43-76E8-CAD3878A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11</a:t>
            </a:fld>
            <a:endParaRPr lang="en-GB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E4AF31-841D-7F49-DC04-F16781678DE4}"/>
              </a:ext>
            </a:extLst>
          </p:cNvPr>
          <p:cNvSpPr txBox="1"/>
          <p:nvPr/>
        </p:nvSpPr>
        <p:spPr>
          <a:xfrm>
            <a:off x="695325" y="1160558"/>
            <a:ext cx="997267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/>
              <a:t>Using time information of autosampler </a:t>
            </a:r>
            <a:r>
              <a:rPr lang="en-US" sz="2000" dirty="0" err="1"/>
              <a:t>df</a:t>
            </a:r>
            <a:r>
              <a:rPr lang="en-US" sz="2000" dirty="0"/>
              <a:t> (EESI data needs to have same time, check for shifts due to time lags in computers)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36F0B9-3B85-5E20-1D29-97CBC8FF2B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3125"/>
          <a:stretch/>
        </p:blipFill>
        <p:spPr>
          <a:xfrm>
            <a:off x="755354" y="2311124"/>
            <a:ext cx="5336879" cy="27707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4308BE-80A4-D75C-F006-5F4C1BE0BB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286" r="-138"/>
          <a:stretch/>
        </p:blipFill>
        <p:spPr>
          <a:xfrm>
            <a:off x="6629400" y="2311124"/>
            <a:ext cx="3886200" cy="27707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E6E352-56AC-E771-C4AF-4E4BDDFB278C}"/>
              </a:ext>
            </a:extLst>
          </p:cNvPr>
          <p:cNvSpPr txBox="1"/>
          <p:nvPr/>
        </p:nvSpPr>
        <p:spPr>
          <a:xfrm>
            <a:off x="6267937" y="3478174"/>
            <a:ext cx="18575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74307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852525A-1B81-9387-A282-78FEB950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 RN to each sample and its corresponding </a:t>
            </a:r>
            <a:r>
              <a:rPr lang="en-US" dirty="0" err="1"/>
              <a:t>waterblank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AB8FC-E9F2-238D-AE0E-545E8898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80026-4D3D-4BB6-870B-30FF1976DEAA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19A82-7D97-9B5F-38DF-5647E63A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F90BC-8AAB-BA43-76E8-CAD3878A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12</a:t>
            </a:fld>
            <a:endParaRPr lang="en-GB" noProof="0" dirty="0"/>
          </a:p>
        </p:txBody>
      </p:sp>
      <p:pic>
        <p:nvPicPr>
          <p:cNvPr id="8" name="Picture 7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ED43792F-5AB9-DE6C-AC76-3B9275593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588" y="914400"/>
            <a:ext cx="7924800" cy="3072590"/>
          </a:xfrm>
          <a:prstGeom prst="rect">
            <a:avLst/>
          </a:prstGeom>
        </p:spPr>
      </p:pic>
      <p:pic>
        <p:nvPicPr>
          <p:cNvPr id="12" name="Picture 11" descr="A graph showing a wave of red and blue dots&#10;&#10;AI-generated content may be incorrect.">
            <a:extLst>
              <a:ext uri="{FF2B5EF4-FFF2-40B4-BE49-F238E27FC236}">
                <a16:creationId xmlns:a16="http://schemas.microsoft.com/office/drawing/2014/main" id="{F965CA0C-BC30-EBAE-03FE-4C273B77FA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825" y="4190999"/>
            <a:ext cx="6032595" cy="233894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F38433-7A08-39F2-49B6-CB4879CD7869}"/>
              </a:ext>
            </a:extLst>
          </p:cNvPr>
          <p:cNvCxnSpPr>
            <a:cxnSpLocks/>
          </p:cNvCxnSpPr>
          <p:nvPr/>
        </p:nvCxnSpPr>
        <p:spPr>
          <a:xfrm flipH="1">
            <a:off x="2438400" y="3302314"/>
            <a:ext cx="457200" cy="104108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CCF988-1975-8CAF-B564-6B7F5319B3DC}"/>
              </a:ext>
            </a:extLst>
          </p:cNvPr>
          <p:cNvCxnSpPr/>
          <p:nvPr/>
        </p:nvCxnSpPr>
        <p:spPr>
          <a:xfrm>
            <a:off x="3124200" y="3302314"/>
            <a:ext cx="4572000" cy="104108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78DA581-B881-E520-317F-3EB9BC9D06D8}"/>
              </a:ext>
            </a:extLst>
          </p:cNvPr>
          <p:cNvSpPr txBox="1"/>
          <p:nvPr/>
        </p:nvSpPr>
        <p:spPr>
          <a:xfrm>
            <a:off x="2226622" y="5205453"/>
            <a:ext cx="20678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200" b="1" dirty="0" err="1"/>
              <a:t>wb</a:t>
            </a:r>
            <a:endParaRPr lang="en-US" sz="12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F69FE8-D788-F4F6-223C-54608E480D96}"/>
              </a:ext>
            </a:extLst>
          </p:cNvPr>
          <p:cNvSpPr txBox="1"/>
          <p:nvPr/>
        </p:nvSpPr>
        <p:spPr>
          <a:xfrm>
            <a:off x="2455181" y="5620347"/>
            <a:ext cx="52097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200" b="1" dirty="0"/>
              <a:t>sample</a:t>
            </a:r>
          </a:p>
        </p:txBody>
      </p:sp>
    </p:spTree>
    <p:extLst>
      <p:ext uri="{BB962C8B-B14F-4D97-AF65-F5344CB8AC3E}">
        <p14:creationId xmlns:p14="http://schemas.microsoft.com/office/powerpoint/2010/main" val="274462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845F01-381A-4DC0-BFF5-A980BE25F2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For datapoints of each sample and </a:t>
            </a:r>
            <a:r>
              <a:rPr lang="en-US" dirty="0" err="1"/>
              <a:t>wb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r>
              <a:rPr lang="en-US" dirty="0"/>
              <a:t>Filtering of outlier datapoints based on median absolute deviation filter</a:t>
            </a:r>
          </a:p>
          <a:p>
            <a:r>
              <a:rPr lang="en-US" dirty="0"/>
              <a:t>(and excluding RN that only contain nan)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258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852525A-1B81-9387-A282-78FEB950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absolute deviation filter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AB8FC-E9F2-238D-AE0E-545E8898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80026-4D3D-4BB6-870B-30FF1976DEAA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19A82-7D97-9B5F-38DF-5647E63A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F90BC-8AAB-BA43-76E8-CAD3878A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14</a:t>
            </a:fld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8A990D-EEF7-35D6-E087-AD5744FEC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905000"/>
            <a:ext cx="2543530" cy="2953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C53BA9-59ED-CAB9-FB67-79738E590DAB}"/>
              </a:ext>
            </a:extLst>
          </p:cNvPr>
          <p:cNvSpPr txBox="1"/>
          <p:nvPr/>
        </p:nvSpPr>
        <p:spPr>
          <a:xfrm>
            <a:off x="914400" y="1314282"/>
            <a:ext cx="723358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/>
              <a:t>Compute median of differences of each RN </a:t>
            </a:r>
            <a:r>
              <a:rPr lang="en-US" sz="2000" dirty="0" err="1"/>
              <a:t>i</a:t>
            </a:r>
            <a:r>
              <a:rPr lang="en-US" sz="2000" dirty="0"/>
              <a:t> to its sample median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FCD837-2C92-DE1E-B401-847A95B474C8}"/>
              </a:ext>
            </a:extLst>
          </p:cNvPr>
          <p:cNvSpPr txBox="1"/>
          <p:nvPr/>
        </p:nvSpPr>
        <p:spPr>
          <a:xfrm>
            <a:off x="914400" y="2714359"/>
            <a:ext cx="6137129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/>
              <a:t>Then for each RN, if </a:t>
            </a:r>
            <a:br>
              <a:rPr lang="en-US" sz="2000" dirty="0"/>
            </a:br>
            <a:r>
              <a:rPr lang="en-US" sz="2000" dirty="0"/>
              <a:t>difference / median(differences of all RN of this sample)</a:t>
            </a:r>
            <a:br>
              <a:rPr lang="en-US" sz="2000" dirty="0"/>
            </a:br>
            <a:r>
              <a:rPr lang="en-US" sz="2000" dirty="0"/>
              <a:t>lays above threshold =&gt; filter as outlier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A9C4CC6-D389-2571-CA2E-2CAD33A3827F}"/>
              </a:ext>
            </a:extLst>
          </p:cNvPr>
          <p:cNvSpPr/>
          <p:nvPr/>
        </p:nvSpPr>
        <p:spPr>
          <a:xfrm>
            <a:off x="2778591" y="3726318"/>
            <a:ext cx="3505200" cy="1371600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Thresholds applied:</a:t>
            </a:r>
          </a:p>
          <a:p>
            <a:pPr algn="ctr"/>
            <a:r>
              <a:rPr lang="en-US" sz="2000" dirty="0"/>
              <a:t>Sample: 2</a:t>
            </a:r>
          </a:p>
          <a:p>
            <a:pPr algn="ctr"/>
            <a:r>
              <a:rPr lang="en-US" sz="2000" dirty="0"/>
              <a:t>Water Blanks: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8ED9A2-4445-6EA6-7091-6677409B3D44}"/>
              </a:ext>
            </a:extLst>
          </p:cNvPr>
          <p:cNvSpPr txBox="1"/>
          <p:nvPr/>
        </p:nvSpPr>
        <p:spPr>
          <a:xfrm>
            <a:off x="898567" y="5443469"/>
            <a:ext cx="10598108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b="1" dirty="0"/>
              <a:t>Filtering should be done based on ion present in all samples!</a:t>
            </a:r>
            <a:br>
              <a:rPr lang="en-US" sz="2000" b="1" dirty="0"/>
            </a:br>
            <a:r>
              <a:rPr lang="en-US" sz="2000" dirty="0"/>
              <a:t>Primary ion or internal standard, not levoglucosan (as this is just random noise in some samples and all </a:t>
            </a:r>
            <a:r>
              <a:rPr lang="en-US" sz="2000" dirty="0" err="1"/>
              <a:t>wb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3111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9490BFED-01DD-BDE9-998B-E9FE2B293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199" y="3782506"/>
            <a:ext cx="7075241" cy="2743200"/>
          </a:xfrm>
          <a:prstGeom prst="rect">
            <a:avLst/>
          </a:prstGeom>
        </p:spPr>
      </p:pic>
      <p:pic>
        <p:nvPicPr>
          <p:cNvPr id="27" name="Picture 26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0E4DF479-DB5E-686A-257D-495639A6A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198768"/>
            <a:ext cx="7075241" cy="27432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852525A-1B81-9387-A282-78FEB950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absolute deviation filter performance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AB8FC-E9F2-238D-AE0E-545E8898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80026-4D3D-4BB6-870B-30FF1976DEAA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19A82-7D97-9B5F-38DF-5647E63A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F90BC-8AAB-BA43-76E8-CAD3878A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15</a:t>
            </a:fld>
            <a:endParaRPr lang="en-GB" noProof="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D132B5-3F22-35F2-38C7-818606C417CE}"/>
              </a:ext>
            </a:extLst>
          </p:cNvPr>
          <p:cNvSpPr/>
          <p:nvPr/>
        </p:nvSpPr>
        <p:spPr>
          <a:xfrm>
            <a:off x="2819400" y="1524000"/>
            <a:ext cx="914400" cy="21244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Before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FD65B9-C2AC-9579-DFE8-B5EF0E53835A}"/>
              </a:ext>
            </a:extLst>
          </p:cNvPr>
          <p:cNvSpPr/>
          <p:nvPr/>
        </p:nvSpPr>
        <p:spPr>
          <a:xfrm>
            <a:off x="2819400" y="4126808"/>
            <a:ext cx="914400" cy="21244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After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E6C291-9428-3488-740D-F7754CCA0F15}"/>
              </a:ext>
            </a:extLst>
          </p:cNvPr>
          <p:cNvSpPr txBox="1"/>
          <p:nvPr/>
        </p:nvSpPr>
        <p:spPr>
          <a:xfrm>
            <a:off x="7315200" y="970701"/>
            <a:ext cx="78386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/>
              <a:t>filtered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884A90A-B5D7-856C-B35B-175357CDCFF6}"/>
              </a:ext>
            </a:extLst>
          </p:cNvPr>
          <p:cNvCxnSpPr/>
          <p:nvPr/>
        </p:nvCxnSpPr>
        <p:spPr>
          <a:xfrm flipH="1">
            <a:off x="7010400" y="1371600"/>
            <a:ext cx="533400" cy="1981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83E1BAD-2DAD-DCA5-D4E9-021FB956E5E7}"/>
              </a:ext>
            </a:extLst>
          </p:cNvPr>
          <p:cNvCxnSpPr/>
          <p:nvPr/>
        </p:nvCxnSpPr>
        <p:spPr>
          <a:xfrm flipH="1">
            <a:off x="4419600" y="1447800"/>
            <a:ext cx="2857500" cy="190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189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852525A-1B81-9387-A282-78FEB950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 absolute deviation filter performance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AB8FC-E9F2-238D-AE0E-545E8898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80026-4D3D-4BB6-870B-30FF1976DEAA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19A82-7D97-9B5F-38DF-5647E63A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F90BC-8AAB-BA43-76E8-CAD3878A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16</a:t>
            </a:fld>
            <a:endParaRPr lang="en-GB" noProof="0" dirty="0"/>
          </a:p>
        </p:txBody>
      </p:sp>
      <p:pic>
        <p:nvPicPr>
          <p:cNvPr id="7" name="Picture 6" descr="A screen shot of a graph&#10;&#10;AI-generated content may be incorrect.">
            <a:extLst>
              <a:ext uri="{FF2B5EF4-FFF2-40B4-BE49-F238E27FC236}">
                <a16:creationId xmlns:a16="http://schemas.microsoft.com/office/drawing/2014/main" id="{D0340750-AEAF-BFB2-D88C-692BB837C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219200"/>
            <a:ext cx="7162800" cy="2777148"/>
          </a:xfrm>
          <a:prstGeom prst="rect">
            <a:avLst/>
          </a:prstGeom>
        </p:spPr>
      </p:pic>
      <p:pic>
        <p:nvPicPr>
          <p:cNvPr id="10" name="Picture 9" descr="A screen shot of a graph&#10;&#10;AI-generated content may be incorrect.">
            <a:extLst>
              <a:ext uri="{FF2B5EF4-FFF2-40B4-BE49-F238E27FC236}">
                <a16:creationId xmlns:a16="http://schemas.microsoft.com/office/drawing/2014/main" id="{A4A357BD-5C25-BA1D-F304-8A6593C00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3809324"/>
            <a:ext cx="7162800" cy="2777148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D132B5-3F22-35F2-38C7-818606C417CE}"/>
              </a:ext>
            </a:extLst>
          </p:cNvPr>
          <p:cNvSpPr/>
          <p:nvPr/>
        </p:nvSpPr>
        <p:spPr>
          <a:xfrm>
            <a:off x="2819400" y="1524000"/>
            <a:ext cx="914400" cy="21244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Before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FD65B9-C2AC-9579-DFE8-B5EF0E53835A}"/>
              </a:ext>
            </a:extLst>
          </p:cNvPr>
          <p:cNvSpPr/>
          <p:nvPr/>
        </p:nvSpPr>
        <p:spPr>
          <a:xfrm>
            <a:off x="2819400" y="4126808"/>
            <a:ext cx="914400" cy="21244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After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5D51E3-3019-23F1-6DC6-CF1B169B9A03}"/>
              </a:ext>
            </a:extLst>
          </p:cNvPr>
          <p:cNvCxnSpPr>
            <a:cxnSpLocks/>
          </p:cNvCxnSpPr>
          <p:nvPr/>
        </p:nvCxnSpPr>
        <p:spPr>
          <a:xfrm flipH="1">
            <a:off x="6629400" y="1317340"/>
            <a:ext cx="381000" cy="708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E8812D4-63E0-BEDA-182B-8DF3F0E02DFF}"/>
              </a:ext>
            </a:extLst>
          </p:cNvPr>
          <p:cNvCxnSpPr>
            <a:cxnSpLocks/>
          </p:cNvCxnSpPr>
          <p:nvPr/>
        </p:nvCxnSpPr>
        <p:spPr>
          <a:xfrm flipH="1">
            <a:off x="5829300" y="1317340"/>
            <a:ext cx="723900" cy="79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EE6C291-9428-3488-740D-F7754CCA0F15}"/>
              </a:ext>
            </a:extLst>
          </p:cNvPr>
          <p:cNvSpPr txBox="1"/>
          <p:nvPr/>
        </p:nvSpPr>
        <p:spPr>
          <a:xfrm>
            <a:off x="6477000" y="970859"/>
            <a:ext cx="78386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/>
              <a:t>filtered</a:t>
            </a:r>
          </a:p>
        </p:txBody>
      </p:sp>
    </p:spTree>
    <p:extLst>
      <p:ext uri="{BB962C8B-B14F-4D97-AF65-F5344CB8AC3E}">
        <p14:creationId xmlns:p14="http://schemas.microsoft.com/office/powerpoint/2010/main" val="2460293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845F01-381A-4DC0-BFF5-A980BE25F2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Normalizations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495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74EB6B9-C44E-18D9-005B-B412A21A3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logic behind normalization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54F9F3-F8C5-15E3-FB30-47443B872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Signal in </a:t>
            </a:r>
            <a:r>
              <a:rPr lang="en-US" b="1" dirty="0"/>
              <a:t>EESI proportional to molar concentration </a:t>
            </a:r>
            <a:r>
              <a:rPr lang="en-US" dirty="0"/>
              <a:t>of species in aerosol (in contrast to AMS)</a:t>
            </a:r>
          </a:p>
          <a:p>
            <a:endParaRPr lang="en-US" dirty="0"/>
          </a:p>
          <a:p>
            <a:r>
              <a:rPr lang="en-US" b="1" dirty="0"/>
              <a:t>Sensitivity</a:t>
            </a:r>
            <a:r>
              <a:rPr lang="en-US" dirty="0"/>
              <a:t> (signal response per molecule in aerosol) </a:t>
            </a:r>
            <a:r>
              <a:rPr lang="en-US" b="1" dirty="0"/>
              <a:t>species dependent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Therefore, no quantification of ‘</a:t>
            </a:r>
            <a:r>
              <a:rPr lang="en-US" dirty="0" err="1"/>
              <a:t>unspiked</a:t>
            </a:r>
            <a:r>
              <a:rPr lang="en-US" dirty="0"/>
              <a:t>’ species with internal standard (in contrast to AMS)</a:t>
            </a:r>
          </a:p>
          <a:p>
            <a:pPr marL="594900" lvl="1" indent="-342900">
              <a:buFont typeface="Courier New" panose="02070309020205020404" pitchFamily="49" charset="0"/>
              <a:buChar char="o"/>
            </a:pPr>
            <a:r>
              <a:rPr lang="en-US" dirty="0"/>
              <a:t>Side note: Previously workflows, used to do it anyway as a very rough approximation, respecting the differences in molecular masses, including Na</a:t>
            </a:r>
            <a:r>
              <a:rPr lang="en-US" baseline="30000" dirty="0"/>
              <a:t>+</a:t>
            </a:r>
            <a:r>
              <a:rPr lang="en-US" sz="1800" dirty="0"/>
              <a:t>,</a:t>
            </a:r>
            <a:r>
              <a:rPr lang="en-US" dirty="0"/>
              <a:t> etc. &lt;=&gt; part of </a:t>
            </a:r>
            <a:r>
              <a:rPr lang="en-US" b="1" dirty="0"/>
              <a:t>semi-quantification</a:t>
            </a:r>
            <a:br>
              <a:rPr lang="en-US" dirty="0"/>
            </a:br>
            <a:r>
              <a:rPr lang="en-US" dirty="0"/>
              <a:t>(now: quantification attempted by comparison of PMF factor output of quantitative AMS vs EESI)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C393AF-B9B8-5582-C1F2-2EBE1F3AC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80026-4D3D-4BB6-870B-30FF1976DEAA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206161-4730-5F86-949B-03E2DB46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Paul Scherrer Institute PSI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5606D-6E13-99E0-699D-EA7C0B9FC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18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5889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74EB6B9-C44E-18D9-005B-B412A21A3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logic behind normalization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54F9F3-F8C5-15E3-FB30-47443B872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371600"/>
            <a:ext cx="10801349" cy="4644616"/>
          </a:xfrm>
        </p:spPr>
        <p:txBody>
          <a:bodyPr/>
          <a:lstStyle/>
          <a:p>
            <a:r>
              <a:rPr lang="en-US" dirty="0"/>
              <a:t>What (apart from chemical structure) affects the relation ‘molar conc. in extract’ vs ‘signal in EESI’?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Inconsistent performance of the nebulization process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EESI spray fluctuations (spray position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Other inconsistencies in EESI performance?</a:t>
            </a:r>
          </a:p>
          <a:p>
            <a:br>
              <a:rPr lang="en-US" dirty="0"/>
            </a:br>
            <a:r>
              <a:rPr lang="en-US" dirty="0"/>
              <a:t>Assumption for all effects: same behavior for all species with respect to these changes</a:t>
            </a:r>
          </a:p>
          <a:p>
            <a:endParaRPr lang="en-US" dirty="0"/>
          </a:p>
          <a:p>
            <a:r>
              <a:rPr lang="en-US" dirty="0"/>
              <a:t>Correct with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Primary ions aka reagent ions =&gt; Reflects EESI fluctuations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Internal standard =&gt; Reflects EESI &amp; Nebulization fluctuations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C393AF-B9B8-5582-C1F2-2EBE1F3AC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80026-4D3D-4BB6-870B-30FF1976DEAA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206161-4730-5F86-949B-03E2DB46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5606D-6E13-99E0-699D-EA7C0B9FC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19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00544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587F97-A26D-F379-5CA9-2733C31AD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</a:t>
            </a:r>
            <a:r>
              <a:rPr lang="en-US" dirty="0"/>
              <a:t>) Point by point normalization (i.e. before averaging) with reagent ions (Na2I+ and Na2I+ (H2O))</a:t>
            </a:r>
          </a:p>
          <a:p>
            <a:r>
              <a:rPr lang="en-US" dirty="0"/>
              <a:t>=&gt; for checking and evaluating internal standard performance throughout the measurements</a:t>
            </a:r>
          </a:p>
          <a:p>
            <a:endParaRPr lang="en-US" dirty="0"/>
          </a:p>
          <a:p>
            <a:r>
              <a:rPr lang="en-US" dirty="0"/>
              <a:t>ii) Point by point normalization (i.e. before averaging) with  internal standard ions </a:t>
            </a:r>
            <a:br>
              <a:rPr lang="en-US" dirty="0"/>
            </a:br>
            <a:r>
              <a:rPr lang="en-US" dirty="0"/>
              <a:t>=&gt; That means primary ion normalized ions are getting normalized by primary ion normalized internal standards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74AD1-62FB-FC49-A4D0-1CB21FBF4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C3121-518B-19A7-F886-668BC5169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B4643-5403-5655-9F93-79E92CFF5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20</a:t>
            </a:fld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C3AE0F4-7028-348F-B001-6E5AD927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– Overview of current procedure</a:t>
            </a:r>
          </a:p>
        </p:txBody>
      </p:sp>
    </p:spTree>
    <p:extLst>
      <p:ext uri="{BB962C8B-B14F-4D97-AF65-F5344CB8AC3E}">
        <p14:creationId xmlns:p14="http://schemas.microsoft.com/office/powerpoint/2010/main" val="683757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18F48-2C7E-2648-757D-D1DAC0C1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126CF-B31A-20B0-E826-CA1AC101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363ED-EAC4-F747-5B42-24F3B11A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21</a:t>
            </a:fld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81B6B1-BD39-89A9-64B1-D267A4012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Waterblank</a:t>
            </a:r>
            <a:r>
              <a:rPr lang="en-US" dirty="0"/>
              <a:t> – Sample Patterns: Primary ion</a:t>
            </a:r>
          </a:p>
        </p:txBody>
      </p:sp>
      <p:pic>
        <p:nvPicPr>
          <p:cNvPr id="12" name="Content Placeholder 11" descr="A graph showing a number of dots&#10;&#10;AI-generated content may be incorrect.">
            <a:extLst>
              <a:ext uri="{FF2B5EF4-FFF2-40B4-BE49-F238E27FC236}">
                <a16:creationId xmlns:a16="http://schemas.microsoft.com/office/drawing/2014/main" id="{11906E14-F4D4-A259-5EDA-521054B78F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088740"/>
            <a:ext cx="7601990" cy="4191000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72FCC6-7AFF-B9B2-E6FE-6837DA702307}"/>
              </a:ext>
            </a:extLst>
          </p:cNvPr>
          <p:cNvSpPr txBox="1"/>
          <p:nvPr/>
        </p:nvSpPr>
        <p:spPr>
          <a:xfrm>
            <a:off x="9525000" y="1257783"/>
            <a:ext cx="32861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 err="1"/>
              <a:t>wb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45BC3E-0543-FBB5-05DD-2B02AF953CE9}"/>
              </a:ext>
            </a:extLst>
          </p:cNvPr>
          <p:cNvSpPr txBox="1"/>
          <p:nvPr/>
        </p:nvSpPr>
        <p:spPr>
          <a:xfrm>
            <a:off x="9525000" y="1524000"/>
            <a:ext cx="82554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/>
              <a:t>sample</a:t>
            </a: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6C5D10AD-E4A6-95DA-992D-C5BCB948C3E6}"/>
              </a:ext>
            </a:extLst>
          </p:cNvPr>
          <p:cNvSpPr/>
          <p:nvPr/>
        </p:nvSpPr>
        <p:spPr>
          <a:xfrm>
            <a:off x="9372600" y="1373571"/>
            <a:ext cx="76200" cy="76200"/>
          </a:xfrm>
          <a:prstGeom prst="diamond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1A29969B-F189-9409-6455-7B514B9F0899}"/>
              </a:ext>
            </a:extLst>
          </p:cNvPr>
          <p:cNvSpPr/>
          <p:nvPr/>
        </p:nvSpPr>
        <p:spPr>
          <a:xfrm>
            <a:off x="9372600" y="1627359"/>
            <a:ext cx="76200" cy="76200"/>
          </a:xfrm>
          <a:prstGeom prst="triangl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3389CCE8-9D52-D4E8-5352-1DF0A7642700}"/>
              </a:ext>
            </a:extLst>
          </p:cNvPr>
          <p:cNvSpPr/>
          <p:nvPr/>
        </p:nvSpPr>
        <p:spPr>
          <a:xfrm>
            <a:off x="2057400" y="2819400"/>
            <a:ext cx="76200" cy="76200"/>
          </a:xfrm>
          <a:prstGeom prst="diamond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6AEFFD52-CB6A-31FE-3F60-CE49F45FA301}"/>
              </a:ext>
            </a:extLst>
          </p:cNvPr>
          <p:cNvSpPr/>
          <p:nvPr/>
        </p:nvSpPr>
        <p:spPr>
          <a:xfrm>
            <a:off x="2209800" y="3810000"/>
            <a:ext cx="76200" cy="76200"/>
          </a:xfrm>
          <a:prstGeom prst="triangl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9F73B7-FB4E-DA36-0F58-02FF5B2CD535}"/>
              </a:ext>
            </a:extLst>
          </p:cNvPr>
          <p:cNvSpPr txBox="1"/>
          <p:nvPr/>
        </p:nvSpPr>
        <p:spPr>
          <a:xfrm>
            <a:off x="1715009" y="5264889"/>
            <a:ext cx="797429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 dirty="0"/>
              <a:t>Samples with higher concentration =&gt; stronger primary ion depletion</a:t>
            </a:r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8C3DF643-3DA1-96B6-3253-34382CFE7937}"/>
              </a:ext>
            </a:extLst>
          </p:cNvPr>
          <p:cNvSpPr/>
          <p:nvPr/>
        </p:nvSpPr>
        <p:spPr>
          <a:xfrm>
            <a:off x="4800600" y="2656213"/>
            <a:ext cx="76200" cy="76200"/>
          </a:xfrm>
          <a:prstGeom prst="diamond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0F77BDA9-D1BC-42D7-ECE9-9B935410DB32}"/>
              </a:ext>
            </a:extLst>
          </p:cNvPr>
          <p:cNvSpPr/>
          <p:nvPr/>
        </p:nvSpPr>
        <p:spPr>
          <a:xfrm>
            <a:off x="5029200" y="4668873"/>
            <a:ext cx="76200" cy="76200"/>
          </a:xfrm>
          <a:prstGeom prst="triangl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3562480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18F48-2C7E-2648-757D-D1DAC0C1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126CF-B31A-20B0-E826-CA1AC101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363ED-EAC4-F747-5B42-24F3B11A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22</a:t>
            </a:fld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81B6B1-BD39-89A9-64B1-D267A4012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Waterblank</a:t>
            </a:r>
            <a:r>
              <a:rPr lang="en-US" dirty="0"/>
              <a:t> – Sample Patterns: Internal standard sulfate</a:t>
            </a:r>
          </a:p>
        </p:txBody>
      </p:sp>
      <p:pic>
        <p:nvPicPr>
          <p:cNvPr id="9" name="Content Placeholder 8" descr="A graph showing a number of red and blue dots&#10;&#10;AI-generated content may be incorrect.">
            <a:extLst>
              <a:ext uri="{FF2B5EF4-FFF2-40B4-BE49-F238E27FC236}">
                <a16:creationId xmlns:a16="http://schemas.microsoft.com/office/drawing/2014/main" id="{266A645E-17C5-3444-748F-75105F0063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723" y="1075738"/>
            <a:ext cx="7264739" cy="4005072"/>
          </a:xfrm>
        </p:spPr>
      </p:pic>
      <p:sp>
        <p:nvSpPr>
          <p:cNvPr id="10" name="Diamond 9">
            <a:extLst>
              <a:ext uri="{FF2B5EF4-FFF2-40B4-BE49-F238E27FC236}">
                <a16:creationId xmlns:a16="http://schemas.microsoft.com/office/drawing/2014/main" id="{812C6428-78AA-BF64-CC64-3E7E6D7C4B3A}"/>
              </a:ext>
            </a:extLst>
          </p:cNvPr>
          <p:cNvSpPr/>
          <p:nvPr/>
        </p:nvSpPr>
        <p:spPr>
          <a:xfrm>
            <a:off x="1905000" y="2567553"/>
            <a:ext cx="76200" cy="76200"/>
          </a:xfrm>
          <a:prstGeom prst="diamond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3537550D-2C61-0C4A-673F-6269DDFC8ACC}"/>
              </a:ext>
            </a:extLst>
          </p:cNvPr>
          <p:cNvSpPr/>
          <p:nvPr/>
        </p:nvSpPr>
        <p:spPr>
          <a:xfrm>
            <a:off x="2133600" y="3025893"/>
            <a:ext cx="76200" cy="76200"/>
          </a:xfrm>
          <a:prstGeom prst="triangl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E0D1D0-2BCA-3827-BCDC-2BE5C05291BD}"/>
              </a:ext>
            </a:extLst>
          </p:cNvPr>
          <p:cNvSpPr txBox="1"/>
          <p:nvPr/>
        </p:nvSpPr>
        <p:spPr>
          <a:xfrm>
            <a:off x="9525000" y="1257783"/>
            <a:ext cx="32861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 err="1"/>
              <a:t>wb</a:t>
            </a:r>
            <a:endParaRPr 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2C29CF-9D75-D12E-2A72-D6F59574EE04}"/>
              </a:ext>
            </a:extLst>
          </p:cNvPr>
          <p:cNvSpPr txBox="1"/>
          <p:nvPr/>
        </p:nvSpPr>
        <p:spPr>
          <a:xfrm>
            <a:off x="9525000" y="1524000"/>
            <a:ext cx="82554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/>
              <a:t>sample</a:t>
            </a: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DE7D78C3-F447-7FF1-0752-90E9E468A868}"/>
              </a:ext>
            </a:extLst>
          </p:cNvPr>
          <p:cNvSpPr/>
          <p:nvPr/>
        </p:nvSpPr>
        <p:spPr>
          <a:xfrm>
            <a:off x="9372600" y="1373571"/>
            <a:ext cx="76200" cy="76200"/>
          </a:xfrm>
          <a:prstGeom prst="diamond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C8352273-58F7-16F2-A19F-60D5FA28E39C}"/>
              </a:ext>
            </a:extLst>
          </p:cNvPr>
          <p:cNvSpPr/>
          <p:nvPr/>
        </p:nvSpPr>
        <p:spPr>
          <a:xfrm>
            <a:off x="9372600" y="1627359"/>
            <a:ext cx="76200" cy="76200"/>
          </a:xfrm>
          <a:prstGeom prst="triangl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CED2ED-C003-A243-6B37-1A51FC228400}"/>
              </a:ext>
            </a:extLst>
          </p:cNvPr>
          <p:cNvSpPr txBox="1"/>
          <p:nvPr/>
        </p:nvSpPr>
        <p:spPr>
          <a:xfrm>
            <a:off x="304800" y="4819361"/>
            <a:ext cx="10629397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Expected under ideal conditions: similar levels for both, </a:t>
            </a:r>
            <a:r>
              <a:rPr lang="en-US" b="1" dirty="0" err="1"/>
              <a:t>wb</a:t>
            </a:r>
            <a:r>
              <a:rPr lang="en-US" b="1" dirty="0"/>
              <a:t> and sample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Expected under real conditions: higher levels for high concentration samples  (as more internal standard brought to aerosol phase; at least that’s observation in AMS)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Observed: </a:t>
            </a:r>
            <a:r>
              <a:rPr lang="en-US" b="1" dirty="0" err="1"/>
              <a:t>wb</a:t>
            </a:r>
            <a:r>
              <a:rPr lang="en-US" b="1" dirty="0"/>
              <a:t> higher than samples, seems to scale with sample concentration </a:t>
            </a:r>
            <a:br>
              <a:rPr lang="en-US" b="1" dirty="0"/>
            </a:br>
            <a:r>
              <a:rPr lang="en-US" b="1" dirty="0"/>
              <a:t>=&gt; competition for reagent ion (reagent ion depletion?</a:t>
            </a:r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D3D8FD94-5A99-E01E-F1D3-D0B3C262A185}"/>
              </a:ext>
            </a:extLst>
          </p:cNvPr>
          <p:cNvSpPr/>
          <p:nvPr/>
        </p:nvSpPr>
        <p:spPr>
          <a:xfrm>
            <a:off x="4572000" y="2529453"/>
            <a:ext cx="76200" cy="76200"/>
          </a:xfrm>
          <a:prstGeom prst="diamond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6E301AD7-08E5-F9C7-8A43-8BDD4E0B2B78}"/>
              </a:ext>
            </a:extLst>
          </p:cNvPr>
          <p:cNvSpPr/>
          <p:nvPr/>
        </p:nvSpPr>
        <p:spPr>
          <a:xfrm>
            <a:off x="4800600" y="3171540"/>
            <a:ext cx="76200" cy="76200"/>
          </a:xfrm>
          <a:prstGeom prst="triangl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BEFF7F-4AC1-D68E-6BC6-5693200EB2B5}"/>
              </a:ext>
            </a:extLst>
          </p:cNvPr>
          <p:cNvSpPr txBox="1"/>
          <p:nvPr/>
        </p:nvSpPr>
        <p:spPr>
          <a:xfrm>
            <a:off x="8940846" y="2706294"/>
            <a:ext cx="281940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dirty="0"/>
              <a:t>Note: trends in good agreement with nitrate internal standard</a:t>
            </a:r>
          </a:p>
        </p:txBody>
      </p:sp>
    </p:spTree>
    <p:extLst>
      <p:ext uri="{BB962C8B-B14F-4D97-AF65-F5344CB8AC3E}">
        <p14:creationId xmlns:p14="http://schemas.microsoft.com/office/powerpoint/2010/main" val="1906239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18F48-2C7E-2648-757D-D1DAC0C1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126CF-B31A-20B0-E826-CA1AC101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363ED-EAC4-F747-5B42-24F3B11A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23</a:t>
            </a:fld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81B6B1-BD39-89A9-64B1-D267A4012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Waterblank</a:t>
            </a:r>
            <a:r>
              <a:rPr lang="en-US" dirty="0"/>
              <a:t> – Sample Patterns: Internal standard sulfate (primary ion normalized)</a:t>
            </a:r>
          </a:p>
        </p:txBody>
      </p:sp>
      <p:pic>
        <p:nvPicPr>
          <p:cNvPr id="8" name="Content Placeholder 7" descr="A graph showing a number of red and blue dots&#10;&#10;AI-generated content may be incorrect.">
            <a:extLst>
              <a:ext uri="{FF2B5EF4-FFF2-40B4-BE49-F238E27FC236}">
                <a16:creationId xmlns:a16="http://schemas.microsoft.com/office/drawing/2014/main" id="{D37B89F4-1F98-A431-36BD-1D267738B6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087750"/>
            <a:ext cx="6781800" cy="3738826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EEE8FD-D777-4E7F-F49D-2A78793D253F}"/>
              </a:ext>
            </a:extLst>
          </p:cNvPr>
          <p:cNvSpPr txBox="1"/>
          <p:nvPr/>
        </p:nvSpPr>
        <p:spPr>
          <a:xfrm>
            <a:off x="9525000" y="1257783"/>
            <a:ext cx="32861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 err="1"/>
              <a:t>wb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1B9584-ED01-66DF-A77F-2C17A22B485F}"/>
              </a:ext>
            </a:extLst>
          </p:cNvPr>
          <p:cNvSpPr txBox="1"/>
          <p:nvPr/>
        </p:nvSpPr>
        <p:spPr>
          <a:xfrm>
            <a:off x="9525000" y="1524000"/>
            <a:ext cx="82554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/>
              <a:t>sample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9B70D5ED-2D5F-FF47-099E-E53586C52C79}"/>
              </a:ext>
            </a:extLst>
          </p:cNvPr>
          <p:cNvSpPr/>
          <p:nvPr/>
        </p:nvSpPr>
        <p:spPr>
          <a:xfrm>
            <a:off x="9372600" y="1373571"/>
            <a:ext cx="76200" cy="76200"/>
          </a:xfrm>
          <a:prstGeom prst="diamond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6CF17F7-943D-ED3B-83B1-54A1152893E2}"/>
              </a:ext>
            </a:extLst>
          </p:cNvPr>
          <p:cNvSpPr/>
          <p:nvPr/>
        </p:nvSpPr>
        <p:spPr>
          <a:xfrm>
            <a:off x="9372600" y="1627359"/>
            <a:ext cx="76200" cy="76200"/>
          </a:xfrm>
          <a:prstGeom prst="triangl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32674FE2-60E8-606A-F773-9518FBA9035F}"/>
              </a:ext>
            </a:extLst>
          </p:cNvPr>
          <p:cNvSpPr/>
          <p:nvPr/>
        </p:nvSpPr>
        <p:spPr>
          <a:xfrm>
            <a:off x="1981200" y="2361060"/>
            <a:ext cx="76200" cy="76200"/>
          </a:xfrm>
          <a:prstGeom prst="diamond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9DBC11D-D4B5-D636-4261-EF33FA43FF55}"/>
              </a:ext>
            </a:extLst>
          </p:cNvPr>
          <p:cNvSpPr/>
          <p:nvPr/>
        </p:nvSpPr>
        <p:spPr>
          <a:xfrm>
            <a:off x="2209800" y="2573714"/>
            <a:ext cx="76200" cy="76200"/>
          </a:xfrm>
          <a:prstGeom prst="triangl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7C284ABC-CC8C-F711-2CF2-89F93541F0EB}"/>
              </a:ext>
            </a:extLst>
          </p:cNvPr>
          <p:cNvSpPr/>
          <p:nvPr/>
        </p:nvSpPr>
        <p:spPr>
          <a:xfrm>
            <a:off x="4610100" y="2177313"/>
            <a:ext cx="76200" cy="76200"/>
          </a:xfrm>
          <a:prstGeom prst="diamond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040EA5B-6CD7-A97A-411A-0ED250BF603F}"/>
              </a:ext>
            </a:extLst>
          </p:cNvPr>
          <p:cNvSpPr/>
          <p:nvPr/>
        </p:nvSpPr>
        <p:spPr>
          <a:xfrm>
            <a:off x="4762500" y="2635565"/>
            <a:ext cx="76200" cy="76200"/>
          </a:xfrm>
          <a:prstGeom prst="triangle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2C98D7-C11A-B2A5-C1E3-31FB2C50C15C}"/>
              </a:ext>
            </a:extLst>
          </p:cNvPr>
          <p:cNvSpPr txBox="1"/>
          <p:nvPr/>
        </p:nvSpPr>
        <p:spPr>
          <a:xfrm>
            <a:off x="304800" y="4819361"/>
            <a:ext cx="10629397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 dirty="0"/>
              <a:t>Observation: </a:t>
            </a:r>
            <a:r>
              <a:rPr lang="en-US" b="1" dirty="0" err="1"/>
              <a:t>wb</a:t>
            </a:r>
            <a:r>
              <a:rPr lang="en-US" b="1" dirty="0"/>
              <a:t> and samples aligned closer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Primary ion is more depleted in high concentration samples, at same time lower internal standard intensity in high concentration samples (maybe due to more competition for primary ion)</a:t>
            </a:r>
            <a:br>
              <a:rPr lang="en-US" b="1" dirty="0"/>
            </a:br>
            <a:r>
              <a:rPr lang="en-US" b="1" dirty="0"/>
              <a:t>=&gt; these two effects compensate when doing the normalization</a:t>
            </a:r>
          </a:p>
        </p:txBody>
      </p:sp>
    </p:spTree>
    <p:extLst>
      <p:ext uri="{BB962C8B-B14F-4D97-AF65-F5344CB8AC3E}">
        <p14:creationId xmlns:p14="http://schemas.microsoft.com/office/powerpoint/2010/main" val="1870661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845F01-381A-4DC0-BFF5-A980BE25F2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Normalization by primary ions (reagent ions)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F8F83-7D27-1619-3684-5386FF9D5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81EDAB-FA59-A42A-2475-340F35C5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94695" y="6404573"/>
            <a:ext cx="8045451" cy="144016"/>
          </a:xfrm>
        </p:spPr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8857C1-0AE8-0319-97B6-7D5F28BE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25</a:t>
            </a:fld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DF9714-8FED-80EB-A62A-1E215E94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primary ions (within the fit range currently applied)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2227489-25E8-C895-2A23-A6B6D0AA542F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752600"/>
          <a:ext cx="1123453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718">
                  <a:extLst>
                    <a:ext uri="{9D8B030D-6E8A-4147-A177-3AD203B41FA5}">
                      <a16:colId xmlns:a16="http://schemas.microsoft.com/office/drawing/2014/main" val="2704624775"/>
                    </a:ext>
                  </a:extLst>
                </a:gridCol>
                <a:gridCol w="3384995">
                  <a:extLst>
                    <a:ext uri="{9D8B030D-6E8A-4147-A177-3AD203B41FA5}">
                      <a16:colId xmlns:a16="http://schemas.microsoft.com/office/drawing/2014/main" val="2810240525"/>
                    </a:ext>
                  </a:extLst>
                </a:gridCol>
                <a:gridCol w="2715006">
                  <a:extLst>
                    <a:ext uri="{9D8B030D-6E8A-4147-A177-3AD203B41FA5}">
                      <a16:colId xmlns:a16="http://schemas.microsoft.com/office/drawing/2014/main" val="2948592844"/>
                    </a:ext>
                  </a:extLst>
                </a:gridCol>
                <a:gridCol w="2441819">
                  <a:extLst>
                    <a:ext uri="{9D8B030D-6E8A-4147-A177-3AD203B41FA5}">
                      <a16:colId xmlns:a16="http://schemas.microsoft.com/office/drawing/2014/main" val="2270380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Fit as (name in peak list)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m/z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80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Na2I+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Na2I+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172.88347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953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Na3I2+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I2Na3+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322.77771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713882"/>
                  </a:ext>
                </a:extLst>
              </a:tr>
            </a:tbl>
          </a:graphicData>
        </a:graphic>
      </p:graphicFrame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1A974526-3CAD-C8FB-787B-9B76E59C9074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4191000"/>
          <a:ext cx="11234538" cy="113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718">
                  <a:extLst>
                    <a:ext uri="{9D8B030D-6E8A-4147-A177-3AD203B41FA5}">
                      <a16:colId xmlns:a16="http://schemas.microsoft.com/office/drawing/2014/main" val="2704624775"/>
                    </a:ext>
                  </a:extLst>
                </a:gridCol>
                <a:gridCol w="3384995">
                  <a:extLst>
                    <a:ext uri="{9D8B030D-6E8A-4147-A177-3AD203B41FA5}">
                      <a16:colId xmlns:a16="http://schemas.microsoft.com/office/drawing/2014/main" val="2810240525"/>
                    </a:ext>
                  </a:extLst>
                </a:gridCol>
                <a:gridCol w="2715006">
                  <a:extLst>
                    <a:ext uri="{9D8B030D-6E8A-4147-A177-3AD203B41FA5}">
                      <a16:colId xmlns:a16="http://schemas.microsoft.com/office/drawing/2014/main" val="2948592844"/>
                    </a:ext>
                  </a:extLst>
                </a:gridCol>
                <a:gridCol w="2441819">
                  <a:extLst>
                    <a:ext uri="{9D8B030D-6E8A-4147-A177-3AD203B41FA5}">
                      <a16:colId xmlns:a16="http://schemas.microsoft.com/office/drawing/2014/main" val="2270380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Fit as (name in peak list)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m/z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80879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Na2I(H2O)+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Water 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Na2I(H2O)+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190.89403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953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Na3I2(H2O)+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Water 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H2I2Na3O+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340.78827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71388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958717E-5857-89AE-344B-8E2A23D75A63}"/>
              </a:ext>
            </a:extLst>
          </p:cNvPr>
          <p:cNvSpPr txBox="1"/>
          <p:nvPr/>
        </p:nvSpPr>
        <p:spPr>
          <a:xfrm>
            <a:off x="914400" y="3706875"/>
            <a:ext cx="170155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 dirty="0"/>
              <a:t>Water clusters</a:t>
            </a:r>
          </a:p>
        </p:txBody>
      </p:sp>
    </p:spTree>
    <p:extLst>
      <p:ext uri="{BB962C8B-B14F-4D97-AF65-F5344CB8AC3E}">
        <p14:creationId xmlns:p14="http://schemas.microsoft.com/office/powerpoint/2010/main" val="392637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74AD1-62FB-FC49-A4D0-1CB21FBF4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C3121-518B-19A7-F886-668BC5169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B4643-5403-5655-9F93-79E92CFF5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26</a:t>
            </a:fld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C3AE0F4-7028-348F-B001-6E5AD927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F58F770-0C6F-53B4-BD7B-54ABE86BB3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5325" y="1376773"/>
                <a:ext cx="8964613" cy="4644616"/>
              </a:xfrm>
            </p:spPr>
            <p:txBody>
              <a:bodyPr/>
              <a:lstStyle/>
              <a:p>
                <a:r>
                  <a:rPr lang="en-US" dirty="0"/>
                  <a:t>Why do we normalize by the reagent ion in first step, if later we normalize with internal standard (which is then already normalized by reagent ion, so effects cancel out)?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𝑟𝑒𝑎𝑔𝑒𝑛𝑡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𝑖𝑜𝑛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𝑖𝑛𝑡𝑒𝑟𝑛𝑎𝑙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𝑠𝑡𝑎𝑛𝑑𝑎𝑟𝑑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𝑟𝑒𝑎𝑔𝑒𝑛𝑡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𝑖𝑜𝑛</m:t>
                              </m:r>
                            </m:den>
                          </m:f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𝑖𝑛𝑡𝑒𝑟𝑛𝑎𝑙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𝑠𝑡𝑎𝑛𝑑𝑎𝑟𝑑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sz="1800" dirty="0"/>
              </a:p>
              <a:p>
                <a:r>
                  <a:rPr lang="en-US" sz="1800" b="1" dirty="0"/>
                  <a:t>Normalizing with reagent ion can make sense: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1800" dirty="0"/>
                  <a:t>Checking time series of internal standard signal, e.g. to get 'pure' effect of nebulization variability, matrix effects on internal standards, selection of internal standard ions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sz="1800" dirty="0"/>
                  <a:t>If normalization with internal standard is done based on sample average rather than point by point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F58F770-0C6F-53B4-BD7B-54ABE86BB3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5325" y="1376773"/>
                <a:ext cx="8964613" cy="4644616"/>
              </a:xfrm>
              <a:blipFill>
                <a:blip r:embed="rId2"/>
                <a:stretch>
                  <a:fillRect l="-1700" t="-1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82296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8001B5-BFAE-EA1A-06D6-F3F0382F1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 ion signal reflects EESI fluctuations</a:t>
            </a:r>
          </a:p>
          <a:p>
            <a:r>
              <a:rPr lang="en-US" dirty="0"/>
              <a:t>But: signal intensity also reflects on sample concentration, as reaction with sample ions leads to </a:t>
            </a:r>
            <a:r>
              <a:rPr lang="en-US" b="1" dirty="0"/>
              <a:t>primary ion signal depletion</a:t>
            </a:r>
          </a:p>
          <a:p>
            <a:endParaRPr lang="en-US" b="1" dirty="0"/>
          </a:p>
          <a:p>
            <a:r>
              <a:rPr lang="en-US" b="1" dirty="0"/>
              <a:t>=&gt; Normalization by primary ion introduces a bias with respect to sample concentration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0BCE35-D9A8-F866-157B-1A6AB2E3D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B14EE8-3850-8108-0333-72DFA24FA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2C047-9924-59BA-D601-716F2A11E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27</a:t>
            </a:fld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4847C34-8DAA-8BBD-943F-7FC3230C2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Considerations for normalizing by primary ions</a:t>
            </a:r>
          </a:p>
        </p:txBody>
      </p:sp>
    </p:spTree>
    <p:extLst>
      <p:ext uri="{BB962C8B-B14F-4D97-AF65-F5344CB8AC3E}">
        <p14:creationId xmlns:p14="http://schemas.microsoft.com/office/powerpoint/2010/main" val="3585004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BF173EE-A4A9-D022-F43C-7A2E2F2682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each run number and ion j:</a:t>
                </a: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𝑛𝑜𝑟𝑚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e>
                              </m:d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)+)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BF173EE-A4A9-D022-F43C-7A2E2F2682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0" t="-1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5D76B3-047F-CA3E-44BA-0FA996A17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DC5D89-1C92-1AD3-D9DE-81CC0BA04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1370C-C8D9-BE93-BE83-74BCE991A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28</a:t>
            </a:fld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6BC0EB0-D404-E648-7B3F-C326E27A5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by primary ions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EA0DB00-E823-96D6-DC5F-332EEE266132}"/>
              </a:ext>
            </a:extLst>
          </p:cNvPr>
          <p:cNvCxnSpPr/>
          <p:nvPr/>
        </p:nvCxnSpPr>
        <p:spPr>
          <a:xfrm flipV="1">
            <a:off x="4800600" y="2895600"/>
            <a:ext cx="609600" cy="106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D7E5D57-DC7D-C794-A4E3-5255BDC23BB1}"/>
              </a:ext>
            </a:extLst>
          </p:cNvPr>
          <p:cNvSpPr txBox="1"/>
          <p:nvPr/>
        </p:nvSpPr>
        <p:spPr>
          <a:xfrm>
            <a:off x="4343400" y="4038600"/>
            <a:ext cx="437190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/>
              <a:t>Sum of primary ion and its water cluster</a:t>
            </a:r>
          </a:p>
        </p:txBody>
      </p:sp>
    </p:spTree>
    <p:extLst>
      <p:ext uri="{BB962C8B-B14F-4D97-AF65-F5344CB8AC3E}">
        <p14:creationId xmlns:p14="http://schemas.microsoft.com/office/powerpoint/2010/main" val="42775164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graph showing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E1DB9BE5-2371-0222-0BB0-2AABAFF70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075" y="3701713"/>
            <a:ext cx="8926375" cy="27432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18F48-2C7E-2648-757D-D1DAC0C1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126CF-B31A-20B0-E826-CA1AC101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363ED-EAC4-F747-5B42-24F3B11A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29</a:t>
            </a:fld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81B6B1-BD39-89A9-64B1-D267A4012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Sulfate internal standard – before and after normalization with primary ion</a:t>
            </a:r>
          </a:p>
        </p:txBody>
      </p:sp>
      <p:pic>
        <p:nvPicPr>
          <p:cNvPr id="18" name="Content Placeholder 17" descr="A graph of red and blue color&#10;&#10;AI-generated content may be incorrect.">
            <a:extLst>
              <a:ext uri="{FF2B5EF4-FFF2-40B4-BE49-F238E27FC236}">
                <a16:creationId xmlns:a16="http://schemas.microsoft.com/office/drawing/2014/main" id="{7CFDDF13-92D6-C2E1-082D-642A0B6877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075" y="1101605"/>
            <a:ext cx="8926374" cy="2743200"/>
          </a:xfr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E292555-C78E-C465-19D5-51495993BA99}"/>
              </a:ext>
            </a:extLst>
          </p:cNvPr>
          <p:cNvSpPr/>
          <p:nvPr/>
        </p:nvSpPr>
        <p:spPr>
          <a:xfrm>
            <a:off x="2057400" y="1435792"/>
            <a:ext cx="914400" cy="21244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Before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74A0A62-1F02-DDD5-710D-5726BA68E52F}"/>
              </a:ext>
            </a:extLst>
          </p:cNvPr>
          <p:cNvSpPr/>
          <p:nvPr/>
        </p:nvSpPr>
        <p:spPr>
          <a:xfrm>
            <a:off x="2057400" y="4038600"/>
            <a:ext cx="914400" cy="21244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1811200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845F01-381A-4DC0-BFF5-A980BE25F2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Normalization by internal standards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7992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F8F83-7D27-1619-3684-5386FF9D5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81EDAB-FA59-A42A-2475-340F35C5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94695" y="6404573"/>
            <a:ext cx="8045451" cy="144016"/>
          </a:xfrm>
        </p:spPr>
        <p:txBody>
          <a:bodyPr/>
          <a:lstStyle/>
          <a:p>
            <a:r>
              <a:rPr lang="en-GB" noProof="0" dirty="0"/>
              <a:t>Paul Scherrer Institute PSI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8857C1-0AE8-0319-97B6-7D5F28BE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31</a:t>
            </a:fld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DF9714-8FED-80EB-A62A-1E215E94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sulfate internal standard ions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2227489-25E8-C895-2A23-A6B6D0AA5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082498"/>
              </p:ext>
            </p:extLst>
          </p:nvPr>
        </p:nvGraphicFramePr>
        <p:xfrm>
          <a:off x="377126" y="1841547"/>
          <a:ext cx="1115516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343">
                  <a:extLst>
                    <a:ext uri="{9D8B030D-6E8A-4147-A177-3AD203B41FA5}">
                      <a16:colId xmlns:a16="http://schemas.microsoft.com/office/drawing/2014/main" val="2704624775"/>
                    </a:ext>
                  </a:extLst>
                </a:gridCol>
                <a:gridCol w="3384995">
                  <a:extLst>
                    <a:ext uri="{9D8B030D-6E8A-4147-A177-3AD203B41FA5}">
                      <a16:colId xmlns:a16="http://schemas.microsoft.com/office/drawing/2014/main" val="2810240525"/>
                    </a:ext>
                  </a:extLst>
                </a:gridCol>
                <a:gridCol w="2715006">
                  <a:extLst>
                    <a:ext uri="{9D8B030D-6E8A-4147-A177-3AD203B41FA5}">
                      <a16:colId xmlns:a16="http://schemas.microsoft.com/office/drawing/2014/main" val="2948592844"/>
                    </a:ext>
                  </a:extLst>
                </a:gridCol>
                <a:gridCol w="2441819">
                  <a:extLst>
                    <a:ext uri="{9D8B030D-6E8A-4147-A177-3AD203B41FA5}">
                      <a16:colId xmlns:a16="http://schemas.microsoft.com/office/drawing/2014/main" val="7168535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Fit as (name in peak list)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m/z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80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Na3[34S]O4+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Considered</a:t>
                      </a:r>
                      <a:r>
                        <a:rPr lang="en-US" sz="1800" dirty="0"/>
                        <a:t> important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Na3[34S]O4+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165.92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713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Na3[34S]O4(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NaI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)+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Considered</a:t>
                      </a:r>
                      <a:r>
                        <a:rPr lang="en-US" sz="1800" dirty="0"/>
                        <a:t> important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INa4[34S]O4+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315.82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26921"/>
                  </a:ext>
                </a:extLst>
              </a:tr>
            </a:tbl>
          </a:graphicData>
        </a:graphic>
      </p:graphicFrame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2042EED4-C72E-DC82-2C4D-C8AA74A75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13256"/>
              </p:ext>
            </p:extLst>
          </p:nvPr>
        </p:nvGraphicFramePr>
        <p:xfrm>
          <a:off x="377126" y="4267200"/>
          <a:ext cx="1115516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343">
                  <a:extLst>
                    <a:ext uri="{9D8B030D-6E8A-4147-A177-3AD203B41FA5}">
                      <a16:colId xmlns:a16="http://schemas.microsoft.com/office/drawing/2014/main" val="2704624775"/>
                    </a:ext>
                  </a:extLst>
                </a:gridCol>
                <a:gridCol w="3384995">
                  <a:extLst>
                    <a:ext uri="{9D8B030D-6E8A-4147-A177-3AD203B41FA5}">
                      <a16:colId xmlns:a16="http://schemas.microsoft.com/office/drawing/2014/main" val="2810240525"/>
                    </a:ext>
                  </a:extLst>
                </a:gridCol>
                <a:gridCol w="2715006">
                  <a:extLst>
                    <a:ext uri="{9D8B030D-6E8A-4147-A177-3AD203B41FA5}">
                      <a16:colId xmlns:a16="http://schemas.microsoft.com/office/drawing/2014/main" val="2948592844"/>
                    </a:ext>
                  </a:extLst>
                </a:gridCol>
                <a:gridCol w="2441819">
                  <a:extLst>
                    <a:ext uri="{9D8B030D-6E8A-4147-A177-3AD203B41FA5}">
                      <a16:colId xmlns:a16="http://schemas.microsoft.com/office/drawing/2014/main" val="7168535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Fit as (name in peak list)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m/z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80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Na3[34S]O4(H2O)+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Considered minor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Na3[34S]O4(H2O)+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183.93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087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Na3[34S]O4(</a:t>
                      </a:r>
                      <a:r>
                        <a:rPr lang="en-US" dirty="0" err="1"/>
                        <a:t>NaI</a:t>
                      </a:r>
                      <a:r>
                        <a:rPr lang="en-US" dirty="0"/>
                        <a:t>)(H2O)+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Considered minor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H2INa4O5[34S]+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333.83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807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A61D334-8F0B-1594-8AF9-140B2F4660E2}"/>
              </a:ext>
            </a:extLst>
          </p:cNvPr>
          <p:cNvSpPr txBox="1"/>
          <p:nvPr/>
        </p:nvSpPr>
        <p:spPr>
          <a:xfrm>
            <a:off x="914400" y="3706875"/>
            <a:ext cx="170155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 dirty="0"/>
              <a:t>Water clusters</a:t>
            </a:r>
          </a:p>
        </p:txBody>
      </p:sp>
    </p:spTree>
    <p:extLst>
      <p:ext uri="{BB962C8B-B14F-4D97-AF65-F5344CB8AC3E}">
        <p14:creationId xmlns:p14="http://schemas.microsoft.com/office/powerpoint/2010/main" val="5003536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F8F83-7D27-1619-3684-5386FF9D5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81EDAB-FA59-A42A-2475-340F35C5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94695" y="6404573"/>
            <a:ext cx="8045451" cy="144016"/>
          </a:xfrm>
        </p:spPr>
        <p:txBody>
          <a:bodyPr/>
          <a:lstStyle/>
          <a:p>
            <a:r>
              <a:rPr lang="en-GB" noProof="0" dirty="0"/>
              <a:t>Paul Scherrer Institute PSI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8857C1-0AE8-0319-97B6-7D5F28BE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32</a:t>
            </a:fld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DF9714-8FED-80EB-A62A-1E215E94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nitrate internal standard ions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2227489-25E8-C895-2A23-A6B6D0AA5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326066"/>
              </p:ext>
            </p:extLst>
          </p:nvPr>
        </p:nvGraphicFramePr>
        <p:xfrm>
          <a:off x="377126" y="1841547"/>
          <a:ext cx="1115516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343">
                  <a:extLst>
                    <a:ext uri="{9D8B030D-6E8A-4147-A177-3AD203B41FA5}">
                      <a16:colId xmlns:a16="http://schemas.microsoft.com/office/drawing/2014/main" val="2704624775"/>
                    </a:ext>
                  </a:extLst>
                </a:gridCol>
                <a:gridCol w="3384995">
                  <a:extLst>
                    <a:ext uri="{9D8B030D-6E8A-4147-A177-3AD203B41FA5}">
                      <a16:colId xmlns:a16="http://schemas.microsoft.com/office/drawing/2014/main" val="2810240525"/>
                    </a:ext>
                  </a:extLst>
                </a:gridCol>
                <a:gridCol w="2715006">
                  <a:extLst>
                    <a:ext uri="{9D8B030D-6E8A-4147-A177-3AD203B41FA5}">
                      <a16:colId xmlns:a16="http://schemas.microsoft.com/office/drawing/2014/main" val="2948592844"/>
                    </a:ext>
                  </a:extLst>
                </a:gridCol>
                <a:gridCol w="2441819">
                  <a:extLst>
                    <a:ext uri="{9D8B030D-6E8A-4147-A177-3AD203B41FA5}">
                      <a16:colId xmlns:a16="http://schemas.microsoft.com/office/drawing/2014/main" val="7168535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Fit as (name in peak list)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m/z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80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Na2[15N]O3+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Considered</a:t>
                      </a:r>
                      <a:r>
                        <a:rPr lang="en-US" sz="1800" dirty="0"/>
                        <a:t> important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Na2[15N]O3+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108.96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713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Na2[15N]O3(</a:t>
                      </a:r>
                      <a:r>
                        <a:rPr lang="en-US" sz="1800" dirty="0" err="1"/>
                        <a:t>NaI</a:t>
                      </a:r>
                      <a:r>
                        <a:rPr lang="en-US" sz="1800" dirty="0"/>
                        <a:t>)+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Considered</a:t>
                      </a:r>
                      <a:r>
                        <a:rPr lang="en-US" sz="1800" dirty="0"/>
                        <a:t> important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INa3[15N]O3+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258.86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26921"/>
                  </a:ext>
                </a:extLst>
              </a:tr>
            </a:tbl>
          </a:graphicData>
        </a:graphic>
      </p:graphicFrame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2042EED4-C72E-DC82-2C4D-C8AA74A75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676788"/>
              </p:ext>
            </p:extLst>
          </p:nvPr>
        </p:nvGraphicFramePr>
        <p:xfrm>
          <a:off x="377126" y="4267200"/>
          <a:ext cx="1115516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343">
                  <a:extLst>
                    <a:ext uri="{9D8B030D-6E8A-4147-A177-3AD203B41FA5}">
                      <a16:colId xmlns:a16="http://schemas.microsoft.com/office/drawing/2014/main" val="2704624775"/>
                    </a:ext>
                  </a:extLst>
                </a:gridCol>
                <a:gridCol w="3384995">
                  <a:extLst>
                    <a:ext uri="{9D8B030D-6E8A-4147-A177-3AD203B41FA5}">
                      <a16:colId xmlns:a16="http://schemas.microsoft.com/office/drawing/2014/main" val="2810240525"/>
                    </a:ext>
                  </a:extLst>
                </a:gridCol>
                <a:gridCol w="2715006">
                  <a:extLst>
                    <a:ext uri="{9D8B030D-6E8A-4147-A177-3AD203B41FA5}">
                      <a16:colId xmlns:a16="http://schemas.microsoft.com/office/drawing/2014/main" val="2948592844"/>
                    </a:ext>
                  </a:extLst>
                </a:gridCol>
                <a:gridCol w="2441819">
                  <a:extLst>
                    <a:ext uri="{9D8B030D-6E8A-4147-A177-3AD203B41FA5}">
                      <a16:colId xmlns:a16="http://schemas.microsoft.com/office/drawing/2014/main" val="7168535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Fit as (name in peak list)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m/z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80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Na2[15N]O3(H2O)+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Considered minor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noStrik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126.97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087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Na2[15N]O3(</a:t>
                      </a:r>
                      <a:r>
                        <a:rPr lang="en-US" sz="1800" dirty="0" err="1"/>
                        <a:t>NaI</a:t>
                      </a:r>
                      <a:r>
                        <a:rPr lang="en-US" sz="1800" dirty="0"/>
                        <a:t>)(H2O)+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Considered minor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trike="noStrik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276.86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807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A61D334-8F0B-1594-8AF9-140B2F4660E2}"/>
              </a:ext>
            </a:extLst>
          </p:cNvPr>
          <p:cNvSpPr txBox="1"/>
          <p:nvPr/>
        </p:nvSpPr>
        <p:spPr>
          <a:xfrm>
            <a:off x="914400" y="3706875"/>
            <a:ext cx="170155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b="1" dirty="0"/>
              <a:t>Water clusters</a:t>
            </a:r>
          </a:p>
        </p:txBody>
      </p:sp>
    </p:spTree>
    <p:extLst>
      <p:ext uri="{BB962C8B-B14F-4D97-AF65-F5344CB8AC3E}">
        <p14:creationId xmlns:p14="http://schemas.microsoft.com/office/powerpoint/2010/main" val="41347894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8001B5-BFAE-EA1A-06D6-F3F0382F1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 ion normalized ions are getting normalized by primary ion normalized internal standards</a:t>
            </a:r>
          </a:p>
          <a:p>
            <a:r>
              <a:rPr lang="en-US" dirty="0"/>
              <a:t>=&gt; Primary ion normalization effect cancels out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0BCE35-D9A8-F866-157B-1A6AB2E3D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B14EE8-3850-8108-0333-72DFA24FA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2C047-9924-59BA-D601-716F2A11E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33</a:t>
            </a:fld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4847C34-8DAA-8BBD-943F-7FC3230C2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Considerations for normalizing by internal standards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2E03F2-A19C-28A0-8961-08DED9865240}"/>
                  </a:ext>
                </a:extLst>
              </p:cNvPr>
              <p:cNvSpPr txBox="1"/>
              <p:nvPr/>
            </p:nvSpPr>
            <p:spPr>
              <a:xfrm>
                <a:off x="2819400" y="2743200"/>
                <a:ext cx="6095010" cy="890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𝑟𝑒𝑎𝑔𝑒𝑛𝑡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𝑖𝑜𝑛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𝑖𝑛𝑡𝑒𝑟𝑛𝑎𝑙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𝑠𝑡𝑎𝑛𝑑𝑎𝑟𝑑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𝑟𝑒𝑎𝑔𝑒𝑛𝑡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𝑖𝑜𝑛</m:t>
                              </m:r>
                            </m:den>
                          </m:f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𝑖𝑛𝑡𝑒𝑟𝑛𝑎𝑙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𝑠𝑡𝑎𝑛𝑑𝑎𝑟𝑑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2E03F2-A19C-28A0-8961-08DED9865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2743200"/>
                <a:ext cx="6095010" cy="8903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4140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845F01-381A-4DC0-BFF5-A980BE25F2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Averaging</a:t>
            </a:r>
            <a:br>
              <a:rPr lang="en-US" dirty="0"/>
            </a:br>
            <a:r>
              <a:rPr lang="en-US" dirty="0"/>
              <a:t>Effective extraction volume correction</a:t>
            </a:r>
          </a:p>
          <a:p>
            <a:r>
              <a:rPr lang="en-US" dirty="0"/>
              <a:t>Water blank subtraction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0090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E55DB-69B8-BA4E-01CC-8A1105091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7BA766-536E-EBCB-DF8C-C23CE637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6CCF8-65A9-E2E1-4CF8-352258C9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35</a:t>
            </a:fld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438A87-B8EC-65E3-4571-A2ADDF559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C2D1044-C25F-06CA-F52C-BEC033BDD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sample and its corresponding </a:t>
            </a:r>
            <a:r>
              <a:rPr lang="en-US" dirty="0" err="1"/>
              <a:t>waterblank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Compute average of normalized data (using assigned</a:t>
            </a:r>
            <a:br>
              <a:rPr lang="en-US" dirty="0"/>
            </a:br>
            <a:r>
              <a:rPr lang="en-US" dirty="0"/>
              <a:t>RN for each sample and its </a:t>
            </a:r>
            <a:r>
              <a:rPr lang="en-US" dirty="0" err="1"/>
              <a:t>wb</a:t>
            </a:r>
            <a:r>
              <a:rPr lang="en-US" dirty="0"/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AC8ED1-312C-45B8-A944-ABEC5B3A9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4419601"/>
            <a:ext cx="2151062" cy="16896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989B1D-0C75-3DAE-85CE-39A15E03D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834632"/>
            <a:ext cx="2509271" cy="2186239"/>
          </a:xfrm>
          <a:prstGeom prst="rect">
            <a:avLst/>
          </a:prstGeom>
        </p:spPr>
      </p:pic>
      <p:sp>
        <p:nvSpPr>
          <p:cNvPr id="17" name="Right Brace 16">
            <a:extLst>
              <a:ext uri="{FF2B5EF4-FFF2-40B4-BE49-F238E27FC236}">
                <a16:creationId xmlns:a16="http://schemas.microsoft.com/office/drawing/2014/main" id="{03A9DCEE-017A-419C-BAE1-5D9DE6FBA73D}"/>
              </a:ext>
            </a:extLst>
          </p:cNvPr>
          <p:cNvSpPr/>
          <p:nvPr/>
        </p:nvSpPr>
        <p:spPr>
          <a:xfrm rot="16200000">
            <a:off x="7328040" y="3060913"/>
            <a:ext cx="143106" cy="2422014"/>
          </a:xfrm>
          <a:prstGeom prst="rightBrac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E1682212-3950-F77F-D806-587E32F67D20}"/>
              </a:ext>
            </a:extLst>
          </p:cNvPr>
          <p:cNvSpPr/>
          <p:nvPr/>
        </p:nvSpPr>
        <p:spPr>
          <a:xfrm rot="16200000">
            <a:off x="9682047" y="3281320"/>
            <a:ext cx="143106" cy="1981200"/>
          </a:xfrm>
          <a:prstGeom prst="rightBrac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C142B4-99FE-B444-1D48-201EF2CA7E58}"/>
              </a:ext>
            </a:extLst>
          </p:cNvPr>
          <p:cNvSpPr txBox="1"/>
          <p:nvPr/>
        </p:nvSpPr>
        <p:spPr>
          <a:xfrm>
            <a:off x="6457091" y="3928694"/>
            <a:ext cx="18850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b="1" dirty="0">
                <a:solidFill>
                  <a:srgbClr val="C00000"/>
                </a:solidFill>
              </a:rPr>
              <a:t>Primary ion normalized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9269A6-390A-C3B4-DFE5-4DA79A01B13B}"/>
              </a:ext>
            </a:extLst>
          </p:cNvPr>
          <p:cNvSpPr txBox="1"/>
          <p:nvPr/>
        </p:nvSpPr>
        <p:spPr>
          <a:xfrm>
            <a:off x="8520344" y="3928694"/>
            <a:ext cx="236834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b="1" dirty="0">
                <a:solidFill>
                  <a:srgbClr val="C00000"/>
                </a:solidFill>
              </a:rPr>
              <a:t>Internal standard normalized</a:t>
            </a:r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9602206F-ABF6-96CC-6606-2D21129F3603}"/>
              </a:ext>
            </a:extLst>
          </p:cNvPr>
          <p:cNvCxnSpPr>
            <a:cxnSpLocks/>
          </p:cNvCxnSpPr>
          <p:nvPr/>
        </p:nvCxnSpPr>
        <p:spPr>
          <a:xfrm flipV="1">
            <a:off x="4150527" y="762000"/>
            <a:ext cx="5145873" cy="287133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F4AD31-4657-D167-E0BC-7C51E0C83DE0}"/>
              </a:ext>
            </a:extLst>
          </p:cNvPr>
          <p:cNvCxnSpPr>
            <a:cxnSpLocks/>
          </p:cNvCxnSpPr>
          <p:nvPr/>
        </p:nvCxnSpPr>
        <p:spPr bwMode="auto">
          <a:xfrm flipV="1">
            <a:off x="4380974" y="3612178"/>
            <a:ext cx="500430" cy="72789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FC8DF20-D804-25F1-6C39-CC687347D9C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282737" y="3479514"/>
            <a:ext cx="331782" cy="88654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C656E6C-B7EF-C04D-C183-53E008D4F8BE}"/>
              </a:ext>
            </a:extLst>
          </p:cNvPr>
          <p:cNvCxnSpPr/>
          <p:nvPr/>
        </p:nvCxnSpPr>
        <p:spPr>
          <a:xfrm flipH="1">
            <a:off x="8763000" y="3200400"/>
            <a:ext cx="137160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15C0CC0-1413-9DE0-C52E-192701311D97}"/>
              </a:ext>
            </a:extLst>
          </p:cNvPr>
          <p:cNvSpPr txBox="1"/>
          <p:nvPr/>
        </p:nvSpPr>
        <p:spPr>
          <a:xfrm>
            <a:off x="8001000" y="436305"/>
            <a:ext cx="175118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b="1" dirty="0"/>
              <a:t>Normalized EESI data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2BAE64-F26D-DE49-D3FA-C698169E4DE7}"/>
              </a:ext>
            </a:extLst>
          </p:cNvPr>
          <p:cNvSpPr txBox="1"/>
          <p:nvPr/>
        </p:nvSpPr>
        <p:spPr>
          <a:xfrm>
            <a:off x="3991540" y="6296374"/>
            <a:ext cx="653159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b="1" dirty="0"/>
              <a:t>Autosampler </a:t>
            </a:r>
            <a:r>
              <a:rPr lang="en-US" sz="1400" b="1" dirty="0" err="1"/>
              <a:t>dataframe</a:t>
            </a:r>
            <a:r>
              <a:rPr lang="en-US" sz="1400" b="1" dirty="0"/>
              <a:t> with different averages for s:sample and </a:t>
            </a:r>
            <a:r>
              <a:rPr lang="en-US" sz="1400" b="1" dirty="0" err="1"/>
              <a:t>wb</a:t>
            </a:r>
            <a:r>
              <a:rPr lang="en-US" sz="1400" b="1" dirty="0"/>
              <a:t>: </a:t>
            </a:r>
            <a:r>
              <a:rPr lang="en-US" sz="1400" b="1" dirty="0" err="1"/>
              <a:t>waterblank</a:t>
            </a:r>
            <a:endParaRPr lang="en-US" sz="1400" b="1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000259B-C16D-03F2-4869-0A6417926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0527" y="4419123"/>
            <a:ext cx="6629400" cy="169169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3FCF7D3-26B8-C37F-8229-82A1D615700E}"/>
              </a:ext>
            </a:extLst>
          </p:cNvPr>
          <p:cNvSpPr txBox="1"/>
          <p:nvPr/>
        </p:nvSpPr>
        <p:spPr>
          <a:xfrm>
            <a:off x="3655397" y="5110518"/>
            <a:ext cx="20999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323138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AFCEC7DA-2C4E-280B-52DC-10107E6C4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376773"/>
            <a:ext cx="8964613" cy="256102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Problem: for samples where filters were extracted, effective spiking volume does not equal the theoretical one, as some volume is held back in vials, syringes and filter punches</a:t>
            </a:r>
          </a:p>
          <a:p>
            <a:pPr marL="0" indent="0">
              <a:buNone/>
            </a:pPr>
            <a:r>
              <a:rPr lang="en-US" dirty="0"/>
              <a:t>=&gt; Internal standard concentration effectively changed (higher than expected)</a:t>
            </a:r>
          </a:p>
          <a:p>
            <a:endParaRPr lang="en-US" dirty="0"/>
          </a:p>
          <a:p>
            <a:r>
              <a:rPr lang="en-US" dirty="0"/>
              <a:t>Corrected for by weighing vials before (empty) and after extraction and applying a correction factor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E55DB-69B8-BA4E-01CC-8A1105091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7BA766-536E-EBCB-DF8C-C23CE637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6CCF8-65A9-E2E1-4CF8-352258C9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36</a:t>
            </a:fld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438A87-B8EC-65E3-4571-A2ADDF559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extraction volume correction – Background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F681085-9563-1458-C1CB-190D01A0D3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7500" b="27917"/>
          <a:stretch/>
        </p:blipFill>
        <p:spPr>
          <a:xfrm>
            <a:off x="3653631" y="4493545"/>
            <a:ext cx="1524000" cy="105048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003AF19-FB5E-52D6-D6DE-67DD619E7B29}"/>
              </a:ext>
            </a:extLst>
          </p:cNvPr>
          <p:cNvSpPr txBox="1"/>
          <p:nvPr/>
        </p:nvSpPr>
        <p:spPr>
          <a:xfrm>
            <a:off x="5540011" y="4246370"/>
            <a:ext cx="762000" cy="3048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000000"/>
              </a:buClr>
            </a:pPr>
            <a:r>
              <a:rPr lang="en-US" sz="1100" b="1" dirty="0">
                <a:solidFill>
                  <a:srgbClr val="000000"/>
                </a:solidFill>
                <a:latin typeface="Calibri"/>
              </a:rPr>
              <a:t>Theoretical for JFJ campaign: 12 mL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2F745ED-AA3D-0B17-DF1F-29DE8C22CB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351" r="38016" b="27917"/>
          <a:stretch/>
        </p:blipFill>
        <p:spPr>
          <a:xfrm>
            <a:off x="6141492" y="4493545"/>
            <a:ext cx="321039" cy="105048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0B1A9A5-C7AD-A97F-36C2-FCBF47CE80D0}"/>
              </a:ext>
            </a:extLst>
          </p:cNvPr>
          <p:cNvSpPr txBox="1"/>
          <p:nvPr/>
        </p:nvSpPr>
        <p:spPr>
          <a:xfrm>
            <a:off x="5334000" y="5791200"/>
            <a:ext cx="2257061" cy="3048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000000"/>
              </a:buClr>
            </a:pPr>
            <a:r>
              <a:rPr lang="en-US" sz="1100" dirty="0">
                <a:solidFill>
                  <a:srgbClr val="000000"/>
                </a:solidFill>
                <a:latin typeface="Calibri"/>
              </a:rPr>
              <a:t>Experience from JFJ: 10-25 % deviation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F29F0D-23F4-ABDF-FD99-7A96F3C14086}"/>
              </a:ext>
            </a:extLst>
          </p:cNvPr>
          <p:cNvSpPr txBox="1"/>
          <p:nvPr/>
        </p:nvSpPr>
        <p:spPr>
          <a:xfrm>
            <a:off x="5540011" y="4836129"/>
            <a:ext cx="20999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99982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E55DB-69B8-BA4E-01CC-8A1105091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7BA766-536E-EBCB-DF8C-C23CE637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6CCF8-65A9-E2E1-4CF8-352258C9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37</a:t>
            </a:fld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438A87-B8EC-65E3-4571-A2ADDF559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extraction volume correction – Formula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1AB88240-5A1B-2E09-35DC-A0B23F30F7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5325" y="1376773"/>
                <a:ext cx="10353675" cy="4644616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rgbClr val="000000"/>
                          </a:solidFill>
                          <a:latin typeface="Calibri"/>
                        </a:rPr>
                        <m:t>ffective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000000"/>
                          </a:solidFill>
                          <a:latin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rgbClr val="000000"/>
                          </a:solidFill>
                          <a:latin typeface="Calibri"/>
                        </a:rPr>
                        <m:t>extract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rgbClr val="000000"/>
                          </a:solidFill>
                          <a:latin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rgbClr val="000000"/>
                          </a:solidFill>
                          <a:latin typeface="Calibri"/>
                        </a:rPr>
                        <m:t>signal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rgbClr val="000000"/>
                          </a:solidFill>
                          <a:latin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rgbClr val="000000"/>
                          </a:solidFill>
                          <a:latin typeface="Calibri"/>
                        </a:rPr>
                        <m:t>intensity</m:t>
                      </m:r>
                      <m:r>
                        <a:rPr lang="de-DE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dirty="0">
                          <a:solidFill>
                            <a:srgbClr val="000000"/>
                          </a:solidFill>
                          <a:latin typeface="Calibri"/>
                        </a:rPr>
                        <m:t>extract</m:t>
                      </m:r>
                      <m:r>
                        <m:rPr>
                          <m:nor/>
                        </m:rPr>
                        <a:rPr lang="en-US" sz="2000" dirty="0">
                          <a:solidFill>
                            <a:srgbClr val="000000"/>
                          </a:solidFill>
                          <a:latin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dirty="0" smtClean="0">
                          <a:solidFill>
                            <a:srgbClr val="000000"/>
                          </a:solidFill>
                          <a:latin typeface="Calibri"/>
                        </a:rPr>
                        <m:t>signal</m:t>
                      </m:r>
                      <m:r>
                        <m:rPr>
                          <m:nor/>
                        </m:rPr>
                        <a:rPr lang="en-US" sz="2000" b="0" i="0" dirty="0" smtClean="0">
                          <a:solidFill>
                            <a:srgbClr val="000000"/>
                          </a:solidFill>
                          <a:latin typeface="Calibri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dirty="0" smtClean="0">
                          <a:solidFill>
                            <a:srgbClr val="000000"/>
                          </a:solidFill>
                          <a:latin typeface="Calibri"/>
                        </a:rPr>
                        <m:t>intensity</m:t>
                      </m:r>
                      <m:r>
                        <m:rPr>
                          <m:nor/>
                        </m:rPr>
                        <a:rPr lang="en-US" sz="2000" b="0" i="0" dirty="0" smtClean="0">
                          <a:solidFill>
                            <a:srgbClr val="000000"/>
                          </a:solidFill>
                          <a:latin typeface="Calibri"/>
                        </a:rPr>
                        <m:t> ∗ </m:t>
                      </m:r>
                      <m:f>
                        <m:fPr>
                          <m:ctrlPr>
                            <a:rPr lang="en-US" sz="20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00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theoretical</m:t>
                          </m:r>
                          <m:r>
                            <m:rPr>
                              <m:nor/>
                            </m:rPr>
                            <a:rPr lang="en-US" sz="2000" b="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m:t>extraction</m:t>
                          </m:r>
                          <m:r>
                            <m:rPr>
                              <m:nor/>
                            </m:rPr>
                            <a:rPr lang="en-US" sz="2000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m:t>volume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000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m:t>effective</m:t>
                          </m:r>
                          <m:r>
                            <m:rPr>
                              <m:nor/>
                            </m:rPr>
                            <a:rPr lang="en-US" sz="2000" b="0" i="0" dirty="0" smtClean="0">
                              <a:solidFill>
                                <a:srgbClr val="000000"/>
                              </a:solidFill>
                              <a:latin typeface="Calibri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m:t>extraction</m:t>
                          </m:r>
                          <m:r>
                            <m:rPr>
                              <m:nor/>
                            </m:rPr>
                            <a:rPr lang="en-US" sz="2000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dirty="0">
                              <a:solidFill>
                                <a:srgbClr val="000000"/>
                              </a:solidFill>
                              <a:latin typeface="Calibri"/>
                            </a:rPr>
                            <m:t>volume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latin typeface="Calibri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Application of correction:</a:t>
                </a:r>
              </a:p>
              <a:p>
                <a:pPr marL="0" indent="0">
                  <a:buNone/>
                </a:pPr>
                <a:r>
                  <a:rPr lang="en-US" dirty="0"/>
                  <a:t>Only on </a:t>
                </a:r>
                <a:r>
                  <a:rPr lang="en-US" b="1" dirty="0"/>
                  <a:t>internal standard normalized</a:t>
                </a:r>
                <a:r>
                  <a:rPr lang="en-US" dirty="0"/>
                  <a:t> data of </a:t>
                </a:r>
                <a:r>
                  <a:rPr lang="en-US" b="1" dirty="0"/>
                  <a:t>‘samples’ where actual filters were extracted</a:t>
                </a:r>
                <a:br>
                  <a:rPr lang="en-US" b="1" dirty="0"/>
                </a:b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(i.e. not on </a:t>
                </a:r>
                <a:r>
                  <a:rPr lang="en-US" dirty="0" err="1"/>
                  <a:t>waterblanks</a:t>
                </a:r>
                <a:r>
                  <a:rPr lang="en-US" dirty="0"/>
                  <a:t>, QC samples like ANAS, Spiked ANAS, …)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1AB88240-5A1B-2E09-35DC-A0B23F30F7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5325" y="1376773"/>
                <a:ext cx="10353675" cy="4644616"/>
              </a:xfrm>
              <a:blipFill>
                <a:blip r:embed="rId2"/>
                <a:stretch>
                  <a:fillRect l="-1471" r="-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Brace 7">
            <a:extLst>
              <a:ext uri="{FF2B5EF4-FFF2-40B4-BE49-F238E27FC236}">
                <a16:creationId xmlns:a16="http://schemas.microsoft.com/office/drawing/2014/main" id="{C5316780-2BEE-635E-48BF-052C0E29F46E}"/>
              </a:ext>
            </a:extLst>
          </p:cNvPr>
          <p:cNvSpPr/>
          <p:nvPr/>
        </p:nvSpPr>
        <p:spPr bwMode="auto">
          <a:xfrm rot="5400000" flipV="1">
            <a:off x="8420100" y="952500"/>
            <a:ext cx="228600" cy="2895600"/>
          </a:xfrm>
          <a:prstGeom prst="rightBrac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004DEE-8DE4-11AF-A25E-086E3F98E0D3}"/>
              </a:ext>
            </a:extLst>
          </p:cNvPr>
          <p:cNvSpPr txBox="1"/>
          <p:nvPr/>
        </p:nvSpPr>
        <p:spPr>
          <a:xfrm>
            <a:off x="7696200" y="2579025"/>
            <a:ext cx="762000" cy="3048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000000"/>
              </a:buClr>
            </a:pPr>
            <a:r>
              <a:rPr lang="en-US" sz="1800" dirty="0">
                <a:solidFill>
                  <a:srgbClr val="000000"/>
                </a:solidFill>
                <a:latin typeface="Calibri"/>
              </a:rPr>
              <a:t>Correction factor, &gt;1</a:t>
            </a:r>
          </a:p>
        </p:txBody>
      </p:sp>
    </p:spTree>
    <p:extLst>
      <p:ext uri="{BB962C8B-B14F-4D97-AF65-F5344CB8AC3E}">
        <p14:creationId xmlns:p14="http://schemas.microsoft.com/office/powerpoint/2010/main" val="18446176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E55DB-69B8-BA4E-01CC-8A1105091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7BA766-536E-EBCB-DF8C-C23CE637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6CCF8-65A9-E2E1-4CF8-352258C9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38</a:t>
            </a:fld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438A87-B8EC-65E3-4571-A2ADDF559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extraction volume correction – Example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AC8ED1-312C-45B8-A944-ABEC5B3A9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4419601"/>
            <a:ext cx="2151062" cy="16896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F51ED35-E6EE-B3DD-CB46-866D651CA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358" y="4419600"/>
            <a:ext cx="7074806" cy="1689613"/>
          </a:xfrm>
          <a:prstGeom prst="rect">
            <a:avLst/>
          </a:prstGeom>
        </p:spPr>
      </p:pic>
      <p:sp>
        <p:nvSpPr>
          <p:cNvPr id="17" name="Right Brace 16">
            <a:extLst>
              <a:ext uri="{FF2B5EF4-FFF2-40B4-BE49-F238E27FC236}">
                <a16:creationId xmlns:a16="http://schemas.microsoft.com/office/drawing/2014/main" id="{03A9DCEE-017A-419C-BAE1-5D9DE6FBA73D}"/>
              </a:ext>
            </a:extLst>
          </p:cNvPr>
          <p:cNvSpPr/>
          <p:nvPr/>
        </p:nvSpPr>
        <p:spPr>
          <a:xfrm rot="16200000">
            <a:off x="7328040" y="3060913"/>
            <a:ext cx="143106" cy="2422014"/>
          </a:xfrm>
          <a:prstGeom prst="rightBrac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E1682212-3950-F77F-D806-587E32F67D20}"/>
              </a:ext>
            </a:extLst>
          </p:cNvPr>
          <p:cNvSpPr/>
          <p:nvPr/>
        </p:nvSpPr>
        <p:spPr>
          <a:xfrm rot="16200000">
            <a:off x="9632962" y="3232235"/>
            <a:ext cx="143106" cy="2079370"/>
          </a:xfrm>
          <a:prstGeom prst="rightBrac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C142B4-99FE-B444-1D48-201EF2CA7E58}"/>
              </a:ext>
            </a:extLst>
          </p:cNvPr>
          <p:cNvSpPr txBox="1"/>
          <p:nvPr/>
        </p:nvSpPr>
        <p:spPr>
          <a:xfrm>
            <a:off x="6457091" y="3928694"/>
            <a:ext cx="18850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b="1" dirty="0">
                <a:solidFill>
                  <a:srgbClr val="C00000"/>
                </a:solidFill>
              </a:rPr>
              <a:t>Primary ion normalized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9269A6-390A-C3B4-DFE5-4DA79A01B13B}"/>
              </a:ext>
            </a:extLst>
          </p:cNvPr>
          <p:cNvSpPr txBox="1"/>
          <p:nvPr/>
        </p:nvSpPr>
        <p:spPr>
          <a:xfrm>
            <a:off x="8520344" y="3928694"/>
            <a:ext cx="236834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b="1" dirty="0">
                <a:solidFill>
                  <a:srgbClr val="C00000"/>
                </a:solidFill>
              </a:rPr>
              <a:t>Internal standard normalized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2CFB8C-632D-6A7E-BB2C-63E13F488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537255"/>
            <a:ext cx="2151062" cy="1689613"/>
          </a:xfrm>
          <a:prstGeom prst="rect">
            <a:avLst/>
          </a:prstGeom>
        </p:spPr>
      </p:pic>
      <p:sp>
        <p:nvSpPr>
          <p:cNvPr id="11" name="Right Brace 10">
            <a:extLst>
              <a:ext uri="{FF2B5EF4-FFF2-40B4-BE49-F238E27FC236}">
                <a16:creationId xmlns:a16="http://schemas.microsoft.com/office/drawing/2014/main" id="{69372535-F9E5-BE27-5AAA-BC42A150B405}"/>
              </a:ext>
            </a:extLst>
          </p:cNvPr>
          <p:cNvSpPr/>
          <p:nvPr/>
        </p:nvSpPr>
        <p:spPr>
          <a:xfrm rot="16200000">
            <a:off x="7328040" y="178567"/>
            <a:ext cx="143106" cy="2422014"/>
          </a:xfrm>
          <a:prstGeom prst="rightBrac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1E1FCC7F-AC74-69CD-4DDF-CC1556542EC9}"/>
              </a:ext>
            </a:extLst>
          </p:cNvPr>
          <p:cNvSpPr/>
          <p:nvPr/>
        </p:nvSpPr>
        <p:spPr>
          <a:xfrm rot="16200000">
            <a:off x="9682047" y="398974"/>
            <a:ext cx="143106" cy="1981200"/>
          </a:xfrm>
          <a:prstGeom prst="rightBrac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7700B8-19BD-70B6-EB6F-9F80977CB683}"/>
              </a:ext>
            </a:extLst>
          </p:cNvPr>
          <p:cNvSpPr txBox="1"/>
          <p:nvPr/>
        </p:nvSpPr>
        <p:spPr>
          <a:xfrm>
            <a:off x="6457091" y="1046348"/>
            <a:ext cx="18850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b="1" dirty="0">
                <a:solidFill>
                  <a:srgbClr val="C00000"/>
                </a:solidFill>
              </a:rPr>
              <a:t>Primary ion normalized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F04CE1-363A-4711-4BA9-7F9F9B1D4F6A}"/>
              </a:ext>
            </a:extLst>
          </p:cNvPr>
          <p:cNvSpPr txBox="1"/>
          <p:nvPr/>
        </p:nvSpPr>
        <p:spPr>
          <a:xfrm>
            <a:off x="8520344" y="1046348"/>
            <a:ext cx="236834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b="1" dirty="0">
                <a:solidFill>
                  <a:srgbClr val="C00000"/>
                </a:solidFill>
              </a:rPr>
              <a:t>Internal standard normalized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E332A5D-5971-F1C6-1278-F12687FC4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0527" y="1536777"/>
            <a:ext cx="6629400" cy="16916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3508B1A-3192-8EA6-7FDA-F6779DDB5B6A}"/>
              </a:ext>
            </a:extLst>
          </p:cNvPr>
          <p:cNvSpPr/>
          <p:nvPr/>
        </p:nvSpPr>
        <p:spPr>
          <a:xfrm>
            <a:off x="8664830" y="5257800"/>
            <a:ext cx="995108" cy="8514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789CDA-AB77-9D51-58E6-D190C594A4B6}"/>
              </a:ext>
            </a:extLst>
          </p:cNvPr>
          <p:cNvSpPr/>
          <p:nvPr/>
        </p:nvSpPr>
        <p:spPr>
          <a:xfrm>
            <a:off x="8664830" y="4606699"/>
            <a:ext cx="995108" cy="16776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A95D8D-01B3-3A35-5C9E-486E98092CBE}"/>
              </a:ext>
            </a:extLst>
          </p:cNvPr>
          <p:cNvSpPr txBox="1"/>
          <p:nvPr/>
        </p:nvSpPr>
        <p:spPr>
          <a:xfrm>
            <a:off x="3429000" y="5118266"/>
            <a:ext cx="1403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/>
              <a:t>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B7490-8D69-B54C-A7D0-DED26A8E20BB}"/>
              </a:ext>
            </a:extLst>
          </p:cNvPr>
          <p:cNvSpPr txBox="1"/>
          <p:nvPr/>
        </p:nvSpPr>
        <p:spPr>
          <a:xfrm>
            <a:off x="3636194" y="2228172"/>
            <a:ext cx="1403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/>
              <a:t>…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200A49-1681-2269-63B5-232ACA5C767F}"/>
              </a:ext>
            </a:extLst>
          </p:cNvPr>
          <p:cNvSpPr/>
          <p:nvPr/>
        </p:nvSpPr>
        <p:spPr>
          <a:xfrm>
            <a:off x="1157287" y="1253875"/>
            <a:ext cx="914400" cy="21244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Before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A723E0B-4F53-9912-E1DA-3A75CB4B4262}"/>
              </a:ext>
            </a:extLst>
          </p:cNvPr>
          <p:cNvSpPr/>
          <p:nvPr/>
        </p:nvSpPr>
        <p:spPr>
          <a:xfrm>
            <a:off x="1157287" y="4124242"/>
            <a:ext cx="914400" cy="21244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11044913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E55DB-69B8-BA4E-01CC-8A1105091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7BA766-536E-EBCB-DF8C-C23CE637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6CCF8-65A9-E2E1-4CF8-352258C9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39</a:t>
            </a:fld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438A87-B8EC-65E3-4571-A2ADDF559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Waterblank</a:t>
            </a:r>
            <a:r>
              <a:rPr lang="en-US" dirty="0"/>
              <a:t> subtraction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C2D1044-C25F-06CA-F52C-BEC033BDD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internal standard normalized data, for each ion subtract sample average (effective volume corrected) with it’s corresponding </a:t>
            </a:r>
            <a:r>
              <a:rPr lang="en-US" dirty="0" err="1"/>
              <a:t>wb</a:t>
            </a:r>
            <a:r>
              <a:rPr lang="en-US" dirty="0"/>
              <a:t> average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8114AB-F23D-5F29-EAB2-2DEAFCD50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4419601"/>
            <a:ext cx="2151062" cy="16896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F0A5DE-9150-1730-8A77-ECF6BDA38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1" y="4418440"/>
            <a:ext cx="6858000" cy="1692888"/>
          </a:xfrm>
          <a:prstGeom prst="rect">
            <a:avLst/>
          </a:prstGeom>
        </p:spPr>
      </p:pic>
      <p:sp>
        <p:nvSpPr>
          <p:cNvPr id="11" name="Right Brace 10">
            <a:extLst>
              <a:ext uri="{FF2B5EF4-FFF2-40B4-BE49-F238E27FC236}">
                <a16:creationId xmlns:a16="http://schemas.microsoft.com/office/drawing/2014/main" id="{1703016B-78F9-ACE7-5E02-2E9FABA4C0A2}"/>
              </a:ext>
            </a:extLst>
          </p:cNvPr>
          <p:cNvSpPr/>
          <p:nvPr/>
        </p:nvSpPr>
        <p:spPr>
          <a:xfrm rot="16200000">
            <a:off x="5749810" y="3117494"/>
            <a:ext cx="143106" cy="2422014"/>
          </a:xfrm>
          <a:prstGeom prst="rightBrac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0F40EE43-09F4-382B-42F2-68D91A68BD13}"/>
              </a:ext>
            </a:extLst>
          </p:cNvPr>
          <p:cNvSpPr/>
          <p:nvPr/>
        </p:nvSpPr>
        <p:spPr>
          <a:xfrm rot="16200000">
            <a:off x="8691447" y="2652100"/>
            <a:ext cx="143106" cy="3352801"/>
          </a:xfrm>
          <a:prstGeom prst="rightBrac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F8FAB2-E001-9EFC-BCCB-B6AC7F8AC265}"/>
              </a:ext>
            </a:extLst>
          </p:cNvPr>
          <p:cNvSpPr txBox="1"/>
          <p:nvPr/>
        </p:nvSpPr>
        <p:spPr>
          <a:xfrm>
            <a:off x="4878861" y="3985275"/>
            <a:ext cx="18850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b="1" dirty="0">
                <a:solidFill>
                  <a:srgbClr val="C00000"/>
                </a:solidFill>
              </a:rPr>
              <a:t>Primary ion normalized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BF8AA7-0B32-8FE6-6C8E-DBD04F443FFE}"/>
              </a:ext>
            </a:extLst>
          </p:cNvPr>
          <p:cNvSpPr txBox="1"/>
          <p:nvPr/>
        </p:nvSpPr>
        <p:spPr>
          <a:xfrm>
            <a:off x="7848600" y="3985275"/>
            <a:ext cx="236834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b="1" dirty="0">
                <a:solidFill>
                  <a:srgbClr val="C00000"/>
                </a:solidFill>
              </a:rPr>
              <a:t>Internal standard normalized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19F14B-CD58-D33D-0C9B-F9592306F80A}"/>
              </a:ext>
            </a:extLst>
          </p:cNvPr>
          <p:cNvSpPr txBox="1"/>
          <p:nvPr/>
        </p:nvSpPr>
        <p:spPr>
          <a:xfrm>
            <a:off x="7373938" y="3069490"/>
            <a:ext cx="4572000" cy="3048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000000"/>
              </a:buClr>
            </a:pPr>
            <a:r>
              <a:rPr lang="en-US" sz="1800" b="1" dirty="0">
                <a:solidFill>
                  <a:srgbClr val="000000"/>
                </a:solidFill>
                <a:latin typeface="Calibri"/>
              </a:rPr>
              <a:t>sample – </a:t>
            </a:r>
            <a:r>
              <a:rPr lang="en-US" sz="1800" b="1" dirty="0" err="1">
                <a:solidFill>
                  <a:srgbClr val="000000"/>
                </a:solidFill>
                <a:latin typeface="Calibri"/>
              </a:rPr>
              <a:t>wb</a:t>
            </a:r>
            <a:r>
              <a:rPr lang="en-US" sz="1800" b="1" dirty="0">
                <a:solidFill>
                  <a:srgbClr val="000000"/>
                </a:solidFill>
                <a:latin typeface="Calibri"/>
              </a:rPr>
              <a:t> = </a:t>
            </a:r>
            <a:r>
              <a:rPr lang="en-US" sz="1800" b="1" dirty="0" err="1">
                <a:solidFill>
                  <a:srgbClr val="000000"/>
                </a:solidFill>
                <a:latin typeface="Calibri"/>
              </a:rPr>
              <a:t>waterblank</a:t>
            </a:r>
            <a:r>
              <a:rPr lang="en-US" sz="1800" b="1" dirty="0">
                <a:solidFill>
                  <a:srgbClr val="000000"/>
                </a:solidFill>
                <a:latin typeface="Calibri"/>
              </a:rPr>
              <a:t> subtracted sample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B7750C-0ED8-081C-8FFC-E887A2084949}"/>
              </a:ext>
            </a:extLst>
          </p:cNvPr>
          <p:cNvCxnSpPr/>
          <p:nvPr/>
        </p:nvCxnSpPr>
        <p:spPr>
          <a:xfrm>
            <a:off x="7620000" y="3429000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0D0CC8D-1160-D2ED-5C09-C31500018FE8}"/>
              </a:ext>
            </a:extLst>
          </p:cNvPr>
          <p:cNvCxnSpPr/>
          <p:nvPr/>
        </p:nvCxnSpPr>
        <p:spPr>
          <a:xfrm>
            <a:off x="8458200" y="3429000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75821A4-16CC-B76B-4E10-8BBD80CCEA96}"/>
              </a:ext>
            </a:extLst>
          </p:cNvPr>
          <p:cNvCxnSpPr/>
          <p:nvPr/>
        </p:nvCxnSpPr>
        <p:spPr>
          <a:xfrm>
            <a:off x="9753600" y="3429000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E4AC409-1B23-1742-EDB9-A845EE51C030}"/>
              </a:ext>
            </a:extLst>
          </p:cNvPr>
          <p:cNvSpPr txBox="1"/>
          <p:nvPr/>
        </p:nvSpPr>
        <p:spPr>
          <a:xfrm>
            <a:off x="3364872" y="5118266"/>
            <a:ext cx="1403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b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505351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845F01-381A-4DC0-BFF5-A980BE25F2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'Semi-Quantification’</a:t>
            </a:r>
          </a:p>
          <a:p>
            <a:r>
              <a:rPr lang="en-US" dirty="0"/>
              <a:t>= Scaling to ambient conditions</a:t>
            </a:r>
          </a:p>
        </p:txBody>
      </p:sp>
    </p:spTree>
    <p:extLst>
      <p:ext uri="{BB962C8B-B14F-4D97-AF65-F5344CB8AC3E}">
        <p14:creationId xmlns:p14="http://schemas.microsoft.com/office/powerpoint/2010/main" val="11662241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AFCEC7DA-2C4E-280B-52DC-10107E6C4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376772"/>
            <a:ext cx="10658475" cy="403342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'Semi-Quantification’ was performed by previous workflows and partly taken over here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Goals of 'Semi-Quantification’: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Make relative ion intensities comparable between samples that were treated differently in sampling or sample preparation</a:t>
            </a:r>
          </a:p>
          <a:p>
            <a:pPr marL="594900" lvl="1" indent="-342900">
              <a:buFont typeface="Courier New" panose="02070309020205020404" pitchFamily="49" charset="0"/>
              <a:buChar char="o"/>
            </a:pPr>
            <a:r>
              <a:rPr lang="en-US" dirty="0"/>
              <a:t>Accounted for: sampling rate and time, punch size, number of punches, extraction volume</a:t>
            </a:r>
          </a:p>
          <a:p>
            <a:pPr marL="594900" lvl="1" indent="-342900">
              <a:buFont typeface="Courier New" panose="02070309020205020404" pitchFamily="49" charset="0"/>
              <a:buChar char="o"/>
            </a:pPr>
            <a:r>
              <a:rPr lang="en-US" dirty="0"/>
              <a:t>For JFJ samples: </a:t>
            </a:r>
            <a:r>
              <a:rPr lang="en-US" b="1" dirty="0"/>
              <a:t>number of punches </a:t>
            </a:r>
            <a:r>
              <a:rPr lang="en-US" dirty="0"/>
              <a:t>was different for some sample batches; rest of the parameters are consistent</a:t>
            </a:r>
          </a:p>
          <a:p>
            <a:r>
              <a:rPr lang="en-US" dirty="0"/>
              <a:t>Currently not implemented (used to be applied by some previous workflows):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Attempting to quantify single ion species to approximate ambient concentrations; this goes under the assumption that sensitivities of internal standard and all other ion species is comparable (which is not the case); for ambient mass concentrations, molar mass of each species needs to be known (not possible for unspecified formulas)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E55DB-69B8-BA4E-01CC-8A1105091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7BA766-536E-EBCB-DF8C-C23CE637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6CCF8-65A9-E2E1-4CF8-352258C9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41</a:t>
            </a:fld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438A87-B8EC-65E3-4571-A2ADDF559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'Semi-Quantification’ = Scaling to ambient conditions – The concept</a:t>
            </a:r>
          </a:p>
        </p:txBody>
      </p:sp>
    </p:spTree>
    <p:extLst>
      <p:ext uri="{BB962C8B-B14F-4D97-AF65-F5344CB8AC3E}">
        <p14:creationId xmlns:p14="http://schemas.microsoft.com/office/powerpoint/2010/main" val="4899603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E55DB-69B8-BA4E-01CC-8A1105091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C8AD-FACB-42EB-BD47-43AC2A002D15}" type="datetime1">
              <a:rPr lang="de-CH" noProof="0" smtClean="0"/>
              <a:t>04.06.2026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7BA766-536E-EBCB-DF8C-C23CE637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Paul Scherrer Institute PSI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6CCF8-65A9-E2E1-4CF8-352258C9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42</a:t>
            </a:fld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438A87-B8EC-65E3-4571-A2ADDF559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'Semi-Quantification’ = Scaling to ambient conditions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5AD764-C2C8-FC2C-6B8F-404565F83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479" y="4232777"/>
            <a:ext cx="2151062" cy="16896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529FDF-4AC3-642F-8170-51212BFE1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4230432"/>
            <a:ext cx="7581601" cy="16896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61ED2A-66B7-CBC1-CCED-BAC115158176}"/>
                  </a:ext>
                </a:extLst>
              </p:cNvPr>
              <p:cNvSpPr txBox="1"/>
              <p:nvPr/>
            </p:nvSpPr>
            <p:spPr>
              <a:xfrm>
                <a:off x="2132012" y="1384100"/>
                <a:ext cx="7010400" cy="762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>
                  <a:lnSpc>
                    <a:spcPct val="110000"/>
                  </a:lnSpc>
                  <a:spcBef>
                    <a:spcPct val="0"/>
                  </a:spcBef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𝑠𝑒𝑚𝑖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𝑞𝑢𝑎𝑛𝑡𝑖𝑓𝑖𝑒𝑑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𝑒𝑥𝑡𝑟𝑎𝑐𝑡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𝑞𝑢𝑎𝑛𝑡𝑖𝑓𝑖𝑒𝑑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𝑒𝑥𝑡𝑟𝑎𝑐𝑡𝑖𝑜𝑛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𝑣𝑜𝑙𝑢𝑚𝑒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𝑚𝐿</m:t>
                              </m:r>
                            </m:e>
                          </m:d>
                        </m:num>
                        <m:den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𝑝𝑒𝑟𝑐𝑒𝑛𝑡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𝑓𝑖𝑙𝑡𝑒𝑟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𝑎𝑟𝑒𝑎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𝑒𝑥𝑡𝑟𝑎𝑐𝑡𝑒𝑑</m:t>
                          </m:r>
                        </m:den>
                      </m:f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𝑠𝑎𝑚𝑝𝑙𝑒𝑑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𝑎𝑖𝑟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𝑣𝑜𝑙𝑢𝑚𝑒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[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3]</m:t>
                          </m:r>
                        </m:den>
                      </m:f>
                    </m:oMath>
                  </m:oMathPara>
                </a14:m>
                <a:endParaRPr lang="en-US" sz="1600" dirty="0" err="1">
                  <a:solidFill>
                    <a:srgbClr val="00000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61ED2A-66B7-CBC1-CCED-BAC115158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012" y="1384100"/>
                <a:ext cx="7010400" cy="762000"/>
              </a:xfrm>
              <a:prstGeom prst="rect">
                <a:avLst/>
              </a:prstGeom>
              <a:blipFill>
                <a:blip r:embed="rId4"/>
                <a:stretch>
                  <a:fillRect r="-13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561BA81-53DD-67A7-8731-DF5959201AA5}"/>
              </a:ext>
            </a:extLst>
          </p:cNvPr>
          <p:cNvCxnSpPr>
            <a:cxnSpLocks/>
          </p:cNvCxnSpPr>
          <p:nvPr/>
        </p:nvCxnSpPr>
        <p:spPr bwMode="auto">
          <a:xfrm flipV="1">
            <a:off x="8570624" y="2094721"/>
            <a:ext cx="76200" cy="3594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0242AE-37C6-3D6A-E12A-3DF8A7FAFC52}"/>
                  </a:ext>
                </a:extLst>
              </p:cNvPr>
              <p:cNvSpPr txBox="1"/>
              <p:nvPr/>
            </p:nvSpPr>
            <p:spPr>
              <a:xfrm>
                <a:off x="6741824" y="2509510"/>
                <a:ext cx="3352800" cy="277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eaLnBrk="1" hangingPunct="1">
                  <a:lnSpc>
                    <a:spcPct val="110000"/>
                  </a:lnSpc>
                  <a:spcBef>
                    <a:spcPct val="0"/>
                  </a:spcBef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𝑠𝑎𝑚𝑝𝑙𝑖𝑛𝑔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𝑡𝑖𝑚𝑒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𝑠𝑎𝑚𝑝𝑙𝑖𝑛𝑔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𝑟𝑎𝑡𝑒</m:t>
                      </m:r>
                    </m:oMath>
                  </m:oMathPara>
                </a14:m>
                <a:endParaRPr lang="en-US" sz="1400" dirty="0" err="1">
                  <a:solidFill>
                    <a:srgbClr val="00000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0242AE-37C6-3D6A-E12A-3DF8A7FAF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1824" y="2509510"/>
                <a:ext cx="3352800" cy="277471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859E78C-12EA-0157-E4A9-28FDFCDEC408}"/>
              </a:ext>
            </a:extLst>
          </p:cNvPr>
          <p:cNvCxnSpPr>
            <a:cxnSpLocks/>
          </p:cNvCxnSpPr>
          <p:nvPr/>
        </p:nvCxnSpPr>
        <p:spPr bwMode="auto">
          <a:xfrm flipV="1">
            <a:off x="5423726" y="2144322"/>
            <a:ext cx="162938" cy="3860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F8D08D3-BF68-E5ED-1076-85E57B472BC0}"/>
                  </a:ext>
                </a:extLst>
              </p:cNvPr>
              <p:cNvSpPr txBox="1"/>
              <p:nvPr/>
            </p:nvSpPr>
            <p:spPr>
              <a:xfrm>
                <a:off x="3747326" y="2648246"/>
                <a:ext cx="3352800" cy="5859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eaLnBrk="1" hangingPunct="1">
                  <a:lnSpc>
                    <a:spcPct val="110000"/>
                  </a:lnSpc>
                  <a:spcBef>
                    <a:spcPct val="0"/>
                  </a:spcBef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𝑝𝑢𝑛𝑐h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𝑎𝑟𝑒𝑎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∗# 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𝑝𝑢𝑛𝑐h𝑒𝑠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𝑒𝑓𝑓𝑒𝑐𝑡𝑖𝑣𝑒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𝑓𝑖𝑙𝑡𝑒𝑟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𝑎𝑟𝑒𝑎</m:t>
                          </m:r>
                        </m:den>
                      </m:f>
                    </m:oMath>
                  </m:oMathPara>
                </a14:m>
                <a:endParaRPr lang="en-US" sz="1400" dirty="0" err="1">
                  <a:solidFill>
                    <a:srgbClr val="00000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F8D08D3-BF68-E5ED-1076-85E57B472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326" y="2648246"/>
                <a:ext cx="3352800" cy="5859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D659894-F1FA-8ECE-4C67-0A6CE0D7D71F}"/>
              </a:ext>
            </a:extLst>
          </p:cNvPr>
          <p:cNvSpPr txBox="1"/>
          <p:nvPr/>
        </p:nvSpPr>
        <p:spPr>
          <a:xfrm>
            <a:off x="3563742" y="4866719"/>
            <a:ext cx="14032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b="1" dirty="0"/>
              <a:t>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658FE6-469A-B648-90EE-647CB6F2D81F}"/>
              </a:ext>
            </a:extLst>
          </p:cNvPr>
          <p:cNvSpPr txBox="1"/>
          <p:nvPr/>
        </p:nvSpPr>
        <p:spPr>
          <a:xfrm>
            <a:off x="7373938" y="3379456"/>
            <a:ext cx="4572000" cy="3048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buClr>
                <a:srgbClr val="000000"/>
              </a:buClr>
            </a:pPr>
            <a:r>
              <a:rPr lang="en-US" sz="1800" b="1" dirty="0">
                <a:solidFill>
                  <a:srgbClr val="000000"/>
                </a:solidFill>
                <a:latin typeface="Calibri"/>
              </a:rPr>
              <a:t>only for samples that were actually extracted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2768F13-2098-BBEB-0449-82B434C95858}"/>
              </a:ext>
            </a:extLst>
          </p:cNvPr>
          <p:cNvCxnSpPr>
            <a:cxnSpLocks/>
          </p:cNvCxnSpPr>
          <p:nvPr/>
        </p:nvCxnSpPr>
        <p:spPr>
          <a:xfrm>
            <a:off x="10363200" y="37338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991377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PSI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0014E6"/>
      </a:accent1>
      <a:accent2>
        <a:srgbClr val="00F0A0"/>
      </a:accent2>
      <a:accent3>
        <a:srgbClr val="DC005A"/>
      </a:accent3>
      <a:accent4>
        <a:srgbClr val="6E14DC"/>
      </a:accent4>
      <a:accent5>
        <a:srgbClr val="F0F500"/>
      </a:accent5>
      <a:accent6>
        <a:srgbClr val="F050FA"/>
      </a:accent6>
      <a:hlink>
        <a:srgbClr val="000000"/>
      </a:hlink>
      <a:folHlink>
        <a:srgbClr val="000000"/>
      </a:folHlink>
    </a:clrScheme>
    <a:fontScheme name="PSI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 PSI EN V8" id="{2132D999-342E-469F-8993-5F7C72A68671}" vid="{1534A763-A16F-4C1F-A36D-9470E56E94CE}"/>
    </a:ext>
  </a:extLst>
</a:theme>
</file>

<file path=ppt/theme/theme2.xml><?xml version="1.0" encoding="utf-8"?>
<a:theme xmlns:a="http://schemas.openxmlformats.org/drawingml/2006/main" name="Office Theme">
  <a:themeElements>
    <a:clrScheme name="PSI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0014E6"/>
      </a:accent1>
      <a:accent2>
        <a:srgbClr val="00F096"/>
      </a:accent2>
      <a:accent3>
        <a:srgbClr val="DC005A"/>
      </a:accent3>
      <a:accent4>
        <a:srgbClr val="6E14DC"/>
      </a:accent4>
      <a:accent5>
        <a:srgbClr val="F0F500"/>
      </a:accent5>
      <a:accent6>
        <a:srgbClr val="F050FA"/>
      </a:accent6>
      <a:hlink>
        <a:srgbClr val="000000"/>
      </a:hlink>
      <a:folHlink>
        <a:srgbClr val="000000"/>
      </a:folHlink>
    </a:clrScheme>
    <a:fontScheme name="PSI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PSI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0014E6"/>
      </a:accent1>
      <a:accent2>
        <a:srgbClr val="00F096"/>
      </a:accent2>
      <a:accent3>
        <a:srgbClr val="DC005A"/>
      </a:accent3>
      <a:accent4>
        <a:srgbClr val="6E14DC"/>
      </a:accent4>
      <a:accent5>
        <a:srgbClr val="F0F500"/>
      </a:accent5>
      <a:accent6>
        <a:srgbClr val="F050FA"/>
      </a:accent6>
      <a:hlink>
        <a:srgbClr val="000000"/>
      </a:hlink>
      <a:folHlink>
        <a:srgbClr val="000000"/>
      </a:folHlink>
    </a:clrScheme>
    <a:fontScheme name="PSI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26B806-0237-4942-A1FD-5C97285908C2}">
  <ds:schemaRefs>
    <ds:schemaRef ds:uri="http://schemas.microsoft.com/office/2006/documentManagement/types"/>
    <ds:schemaRef ds:uri="http://purl.org/dc/elements/1.1/"/>
    <ds:schemaRef ds:uri="http://www.w3.org/XML/1998/namespace"/>
    <ds:schemaRef ds:uri="bc24777f-78b6-4f3c-a73a-d5fa08e4d537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c9077d15-72ed-4fec-bcfe-3472729e9195"/>
  </ds:schemaRefs>
</ds:datastoreItem>
</file>

<file path=customXml/itemProps2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9C8326-17BB-45BD-9C1C-A05512924E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EESI pipeline questions</Template>
  <TotalTime>0</TotalTime>
  <Words>1873</Words>
  <Application>Microsoft Office PowerPoint</Application>
  <PresentationFormat>Widescreen</PresentationFormat>
  <Paragraphs>358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Aptos</vt:lpstr>
      <vt:lpstr>Arial</vt:lpstr>
      <vt:lpstr>Calibri</vt:lpstr>
      <vt:lpstr>Cambria Math</vt:lpstr>
      <vt:lpstr>Courier New</vt:lpstr>
      <vt:lpstr>Times</vt:lpstr>
      <vt:lpstr>Benutzerdefiniertes Design</vt:lpstr>
      <vt:lpstr>EESI data analysis pipeline</vt:lpstr>
      <vt:lpstr>PowerPoint Presentation</vt:lpstr>
      <vt:lpstr>Input</vt:lpstr>
      <vt:lpstr>Input</vt:lpstr>
      <vt:lpstr>Input</vt:lpstr>
      <vt:lpstr>Input</vt:lpstr>
      <vt:lpstr>PowerPoint Presentation</vt:lpstr>
      <vt:lpstr>PowerPoint Presentation</vt:lpstr>
      <vt:lpstr>Removing spikes</vt:lpstr>
      <vt:lpstr>PowerPoint Presentation</vt:lpstr>
      <vt:lpstr>Assign RN to each sample and its corresponding waterblank</vt:lpstr>
      <vt:lpstr>Assign RN to each sample and its corresponding waterblank</vt:lpstr>
      <vt:lpstr>PowerPoint Presentation</vt:lpstr>
      <vt:lpstr>median absolute deviation filter</vt:lpstr>
      <vt:lpstr>median absolute deviation filter performance</vt:lpstr>
      <vt:lpstr>median absolute deviation filter performance</vt:lpstr>
      <vt:lpstr>PowerPoint Presentation</vt:lpstr>
      <vt:lpstr>The logic behind normalization</vt:lpstr>
      <vt:lpstr>The logic behind normalization</vt:lpstr>
      <vt:lpstr>Normalization – Overview of current procedure</vt:lpstr>
      <vt:lpstr>Waterblank – Sample Patterns: Primary ion</vt:lpstr>
      <vt:lpstr>Waterblank – Sample Patterns: Internal standard sulfate</vt:lpstr>
      <vt:lpstr>Waterblank – Sample Patterns: Internal standard sulfate (primary ion normalized)</vt:lpstr>
      <vt:lpstr>PowerPoint Presentation</vt:lpstr>
      <vt:lpstr>Overview of primary ions (within the fit range currently applied)</vt:lpstr>
      <vt:lpstr>Why?</vt:lpstr>
      <vt:lpstr>Considerations for normalizing by primary ions</vt:lpstr>
      <vt:lpstr>Normalization by primary ions</vt:lpstr>
      <vt:lpstr>Sulfate internal standard – before and after normalization with primary ion</vt:lpstr>
      <vt:lpstr>PowerPoint Presentation</vt:lpstr>
      <vt:lpstr>Overview of sulfate internal standard ions</vt:lpstr>
      <vt:lpstr>Overview of nitrate internal standard ions</vt:lpstr>
      <vt:lpstr>Considerations for normalizing by internal standards</vt:lpstr>
      <vt:lpstr>PowerPoint Presentation</vt:lpstr>
      <vt:lpstr>Averaging</vt:lpstr>
      <vt:lpstr>Effective extraction volume correction – Background</vt:lpstr>
      <vt:lpstr>Effective extraction volume correction – Formula </vt:lpstr>
      <vt:lpstr>Effective extraction volume correction – Example</vt:lpstr>
      <vt:lpstr>Waterblank subtraction</vt:lpstr>
      <vt:lpstr>PowerPoint Presentation</vt:lpstr>
      <vt:lpstr>'Semi-Quantification’ = Scaling to ambient conditions – The concept</vt:lpstr>
      <vt:lpstr>'Semi-Quantification’ = Scaling to ambient conditions</vt:lpstr>
    </vt:vector>
  </TitlesOfParts>
  <Company>Paul Scherrer Institut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EESI data analysis pipeline: Questions</dc:title>
  <dc:creator>Weng Julian</dc:creator>
  <dc:description>erstellt durch Vorlagenbauer.ch</dc:description>
  <cp:lastModifiedBy>Weng, Julian</cp:lastModifiedBy>
  <cp:revision>36</cp:revision>
  <dcterms:created xsi:type="dcterms:W3CDTF">2024-07-01T12:28:05Z</dcterms:created>
  <dcterms:modified xsi:type="dcterms:W3CDTF">2026-06-04T12:09:17Z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